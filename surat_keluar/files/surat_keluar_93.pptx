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74" r:id="rId4"/>
    <p:sldId id="276" r:id="rId5"/>
    <p:sldId id="275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77FFC5"/>
    <a:srgbClr val="00FDFF"/>
    <a:srgbClr val="1F0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5915"/>
  </p:normalViewPr>
  <p:slideViewPr>
    <p:cSldViewPr snapToGrid="0">
      <p:cViewPr varScale="1">
        <p:scale>
          <a:sx n="114" d="100"/>
          <a:sy n="114" d="100"/>
        </p:scale>
        <p:origin x="18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67FC9C-16F5-664A-AF50-5D000FD6CCAF}" type="doc">
      <dgm:prSet loTypeId="urn:microsoft.com/office/officeart/2005/8/layout/hChevron3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C8F7CE8-85B4-504A-B830-CBF24DF1F4DA}">
      <dgm:prSet phldrT="[Text]"/>
      <dgm:spPr/>
      <dgm:t>
        <a:bodyPr/>
        <a:lstStyle/>
        <a:p>
          <a:r>
            <a:rPr lang="en-US" b="1" dirty="0"/>
            <a:t>Audit Planning</a:t>
          </a:r>
        </a:p>
      </dgm:t>
    </dgm:pt>
    <dgm:pt modelId="{2B21F8F5-AEBA-0044-8532-98577B8D6627}" type="parTrans" cxnId="{C33F4C70-5734-D348-B38F-B523A9EA1F67}">
      <dgm:prSet/>
      <dgm:spPr/>
      <dgm:t>
        <a:bodyPr/>
        <a:lstStyle/>
        <a:p>
          <a:endParaRPr lang="en-US"/>
        </a:p>
      </dgm:t>
    </dgm:pt>
    <dgm:pt modelId="{C105CBE0-9EF1-1945-9828-9CEBCED51717}" type="sibTrans" cxnId="{C33F4C70-5734-D348-B38F-B523A9EA1F67}">
      <dgm:prSet/>
      <dgm:spPr/>
      <dgm:t>
        <a:bodyPr/>
        <a:lstStyle/>
        <a:p>
          <a:endParaRPr lang="en-US"/>
        </a:p>
      </dgm:t>
    </dgm:pt>
    <dgm:pt modelId="{F696C7AC-90C3-E84B-8A78-D00366AD47CF}">
      <dgm:prSet phldrT="[Text]"/>
      <dgm:spPr/>
      <dgm:t>
        <a:bodyPr/>
        <a:lstStyle/>
        <a:p>
          <a:r>
            <a:rPr lang="en-US" b="1" dirty="0"/>
            <a:t>Audit Preparation</a:t>
          </a:r>
        </a:p>
      </dgm:t>
    </dgm:pt>
    <dgm:pt modelId="{9AB8A506-632C-AF4F-BBF5-B7993914B158}" type="parTrans" cxnId="{E4B593A2-B99B-3B47-8831-00E04E7DB9E1}">
      <dgm:prSet/>
      <dgm:spPr/>
      <dgm:t>
        <a:bodyPr/>
        <a:lstStyle/>
        <a:p>
          <a:endParaRPr lang="en-US"/>
        </a:p>
      </dgm:t>
    </dgm:pt>
    <dgm:pt modelId="{7B577C13-4022-4C44-87E3-4CA0C311593D}" type="sibTrans" cxnId="{E4B593A2-B99B-3B47-8831-00E04E7DB9E1}">
      <dgm:prSet/>
      <dgm:spPr/>
      <dgm:t>
        <a:bodyPr/>
        <a:lstStyle/>
        <a:p>
          <a:endParaRPr lang="en-US"/>
        </a:p>
      </dgm:t>
    </dgm:pt>
    <dgm:pt modelId="{7A6410E4-E174-274F-9E97-FB940D865870}">
      <dgm:prSet phldrT="[Text]"/>
      <dgm:spPr/>
      <dgm:t>
        <a:bodyPr/>
        <a:lstStyle/>
        <a:p>
          <a:r>
            <a:rPr lang="en-US" b="1" dirty="0"/>
            <a:t>Audit Performance / Execute</a:t>
          </a:r>
        </a:p>
      </dgm:t>
    </dgm:pt>
    <dgm:pt modelId="{C846838A-4D3B-A24E-847E-E4A5DA6DCCFC}" type="parTrans" cxnId="{035A6E49-31FB-E147-8940-8DC431106518}">
      <dgm:prSet/>
      <dgm:spPr/>
      <dgm:t>
        <a:bodyPr/>
        <a:lstStyle/>
        <a:p>
          <a:endParaRPr lang="en-US"/>
        </a:p>
      </dgm:t>
    </dgm:pt>
    <dgm:pt modelId="{029B4672-556A-6245-85C7-A8F6E7168529}" type="sibTrans" cxnId="{035A6E49-31FB-E147-8940-8DC431106518}">
      <dgm:prSet/>
      <dgm:spPr/>
      <dgm:t>
        <a:bodyPr/>
        <a:lstStyle/>
        <a:p>
          <a:endParaRPr lang="en-US"/>
        </a:p>
      </dgm:t>
    </dgm:pt>
    <dgm:pt modelId="{3C513FE3-83BB-CF43-9124-E7010A1D19ED}">
      <dgm:prSet/>
      <dgm:spPr/>
      <dgm:t>
        <a:bodyPr/>
        <a:lstStyle/>
        <a:p>
          <a:r>
            <a:rPr lang="en-US" b="1" dirty="0"/>
            <a:t>Audit Reporting</a:t>
          </a:r>
        </a:p>
      </dgm:t>
    </dgm:pt>
    <dgm:pt modelId="{F92F727B-7F9A-6B48-806A-678536D9F2DC}" type="parTrans" cxnId="{890BF8AF-4856-1045-980E-2A37B70E124A}">
      <dgm:prSet/>
      <dgm:spPr/>
      <dgm:t>
        <a:bodyPr/>
        <a:lstStyle/>
        <a:p>
          <a:endParaRPr lang="en-US"/>
        </a:p>
      </dgm:t>
    </dgm:pt>
    <dgm:pt modelId="{46FD42C2-FFD9-2F4A-AA0B-77A26C12FA08}" type="sibTrans" cxnId="{890BF8AF-4856-1045-980E-2A37B70E124A}">
      <dgm:prSet/>
      <dgm:spPr/>
      <dgm:t>
        <a:bodyPr/>
        <a:lstStyle/>
        <a:p>
          <a:endParaRPr lang="en-US"/>
        </a:p>
      </dgm:t>
    </dgm:pt>
    <dgm:pt modelId="{C1177F19-27D6-C240-A6A2-1E06F08C860C}" type="pres">
      <dgm:prSet presAssocID="{0D67FC9C-16F5-664A-AF50-5D000FD6CCAF}" presName="Name0" presStyleCnt="0">
        <dgm:presLayoutVars>
          <dgm:dir/>
          <dgm:resizeHandles val="exact"/>
        </dgm:presLayoutVars>
      </dgm:prSet>
      <dgm:spPr/>
    </dgm:pt>
    <dgm:pt modelId="{6921C729-EC79-E040-AAF8-5547E4B8FC64}" type="pres">
      <dgm:prSet presAssocID="{BC8F7CE8-85B4-504A-B830-CBF24DF1F4DA}" presName="parTxOnly" presStyleLbl="node1" presStyleIdx="0" presStyleCnt="4">
        <dgm:presLayoutVars>
          <dgm:bulletEnabled val="1"/>
        </dgm:presLayoutVars>
      </dgm:prSet>
      <dgm:spPr/>
    </dgm:pt>
    <dgm:pt modelId="{BCA3E62F-DFDF-D94A-943C-850F5DE232E4}" type="pres">
      <dgm:prSet presAssocID="{C105CBE0-9EF1-1945-9828-9CEBCED51717}" presName="parSpace" presStyleCnt="0"/>
      <dgm:spPr/>
    </dgm:pt>
    <dgm:pt modelId="{1A112EEF-2167-E642-AE13-820260D53C79}" type="pres">
      <dgm:prSet presAssocID="{F696C7AC-90C3-E84B-8A78-D00366AD47CF}" presName="parTxOnly" presStyleLbl="node1" presStyleIdx="1" presStyleCnt="4">
        <dgm:presLayoutVars>
          <dgm:bulletEnabled val="1"/>
        </dgm:presLayoutVars>
      </dgm:prSet>
      <dgm:spPr/>
    </dgm:pt>
    <dgm:pt modelId="{63DBABE1-5F45-F444-A0A2-53A9E93177C8}" type="pres">
      <dgm:prSet presAssocID="{7B577C13-4022-4C44-87E3-4CA0C311593D}" presName="parSpace" presStyleCnt="0"/>
      <dgm:spPr/>
    </dgm:pt>
    <dgm:pt modelId="{BC4848F6-7329-5F4A-BE9F-8E19951DFE3E}" type="pres">
      <dgm:prSet presAssocID="{7A6410E4-E174-274F-9E97-FB940D865870}" presName="parTxOnly" presStyleLbl="node1" presStyleIdx="2" presStyleCnt="4">
        <dgm:presLayoutVars>
          <dgm:bulletEnabled val="1"/>
        </dgm:presLayoutVars>
      </dgm:prSet>
      <dgm:spPr/>
    </dgm:pt>
    <dgm:pt modelId="{ECE578C1-D933-6C42-B1D2-3D91E4CBA33F}" type="pres">
      <dgm:prSet presAssocID="{029B4672-556A-6245-85C7-A8F6E7168529}" presName="parSpace" presStyleCnt="0"/>
      <dgm:spPr/>
    </dgm:pt>
    <dgm:pt modelId="{BA2201A7-5880-7B41-BB9B-C88BD1DDDB5D}" type="pres">
      <dgm:prSet presAssocID="{3C513FE3-83BB-CF43-9124-E7010A1D19ED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9141B46-438D-1741-A467-2787FFE29FA2}" type="presOf" srcId="{3C513FE3-83BB-CF43-9124-E7010A1D19ED}" destId="{BA2201A7-5880-7B41-BB9B-C88BD1DDDB5D}" srcOrd="0" destOrd="0" presId="urn:microsoft.com/office/officeart/2005/8/layout/hChevron3"/>
    <dgm:cxn modelId="{ACC4CB47-3E4C-E24B-898D-A4B9F37E6EB3}" type="presOf" srcId="{7A6410E4-E174-274F-9E97-FB940D865870}" destId="{BC4848F6-7329-5F4A-BE9F-8E19951DFE3E}" srcOrd="0" destOrd="0" presId="urn:microsoft.com/office/officeart/2005/8/layout/hChevron3"/>
    <dgm:cxn modelId="{035A6E49-31FB-E147-8940-8DC431106518}" srcId="{0D67FC9C-16F5-664A-AF50-5D000FD6CCAF}" destId="{7A6410E4-E174-274F-9E97-FB940D865870}" srcOrd="2" destOrd="0" parTransId="{C846838A-4D3B-A24E-847E-E4A5DA6DCCFC}" sibTransId="{029B4672-556A-6245-85C7-A8F6E7168529}"/>
    <dgm:cxn modelId="{B109FB5E-555F-A444-B8DC-911DFB49C147}" type="presOf" srcId="{BC8F7CE8-85B4-504A-B830-CBF24DF1F4DA}" destId="{6921C729-EC79-E040-AAF8-5547E4B8FC64}" srcOrd="0" destOrd="0" presId="urn:microsoft.com/office/officeart/2005/8/layout/hChevron3"/>
    <dgm:cxn modelId="{C33F4C70-5734-D348-B38F-B523A9EA1F67}" srcId="{0D67FC9C-16F5-664A-AF50-5D000FD6CCAF}" destId="{BC8F7CE8-85B4-504A-B830-CBF24DF1F4DA}" srcOrd="0" destOrd="0" parTransId="{2B21F8F5-AEBA-0044-8532-98577B8D6627}" sibTransId="{C105CBE0-9EF1-1945-9828-9CEBCED51717}"/>
    <dgm:cxn modelId="{E4B593A2-B99B-3B47-8831-00E04E7DB9E1}" srcId="{0D67FC9C-16F5-664A-AF50-5D000FD6CCAF}" destId="{F696C7AC-90C3-E84B-8A78-D00366AD47CF}" srcOrd="1" destOrd="0" parTransId="{9AB8A506-632C-AF4F-BBF5-B7993914B158}" sibTransId="{7B577C13-4022-4C44-87E3-4CA0C311593D}"/>
    <dgm:cxn modelId="{890BF8AF-4856-1045-980E-2A37B70E124A}" srcId="{0D67FC9C-16F5-664A-AF50-5D000FD6CCAF}" destId="{3C513FE3-83BB-CF43-9124-E7010A1D19ED}" srcOrd="3" destOrd="0" parTransId="{F92F727B-7F9A-6B48-806A-678536D9F2DC}" sibTransId="{46FD42C2-FFD9-2F4A-AA0B-77A26C12FA08}"/>
    <dgm:cxn modelId="{B0F3BECC-CB72-D44E-907E-D6E6458BA6E4}" type="presOf" srcId="{F696C7AC-90C3-E84B-8A78-D00366AD47CF}" destId="{1A112EEF-2167-E642-AE13-820260D53C79}" srcOrd="0" destOrd="0" presId="urn:microsoft.com/office/officeart/2005/8/layout/hChevron3"/>
    <dgm:cxn modelId="{3420C2FD-6AB0-CE47-8091-06C62239D722}" type="presOf" srcId="{0D67FC9C-16F5-664A-AF50-5D000FD6CCAF}" destId="{C1177F19-27D6-C240-A6A2-1E06F08C860C}" srcOrd="0" destOrd="0" presId="urn:microsoft.com/office/officeart/2005/8/layout/hChevron3"/>
    <dgm:cxn modelId="{030B553D-ED53-4E49-9E1E-59C44AE17FE4}" type="presParOf" srcId="{C1177F19-27D6-C240-A6A2-1E06F08C860C}" destId="{6921C729-EC79-E040-AAF8-5547E4B8FC64}" srcOrd="0" destOrd="0" presId="urn:microsoft.com/office/officeart/2005/8/layout/hChevron3"/>
    <dgm:cxn modelId="{B339DE11-606D-2348-92CC-9335534ACC97}" type="presParOf" srcId="{C1177F19-27D6-C240-A6A2-1E06F08C860C}" destId="{BCA3E62F-DFDF-D94A-943C-850F5DE232E4}" srcOrd="1" destOrd="0" presId="urn:microsoft.com/office/officeart/2005/8/layout/hChevron3"/>
    <dgm:cxn modelId="{1266E850-ABC2-3F47-868D-091238E5A83E}" type="presParOf" srcId="{C1177F19-27D6-C240-A6A2-1E06F08C860C}" destId="{1A112EEF-2167-E642-AE13-820260D53C79}" srcOrd="2" destOrd="0" presId="urn:microsoft.com/office/officeart/2005/8/layout/hChevron3"/>
    <dgm:cxn modelId="{DF4DD101-8AF1-3349-9FA6-757268E66C45}" type="presParOf" srcId="{C1177F19-27D6-C240-A6A2-1E06F08C860C}" destId="{63DBABE1-5F45-F444-A0A2-53A9E93177C8}" srcOrd="3" destOrd="0" presId="urn:microsoft.com/office/officeart/2005/8/layout/hChevron3"/>
    <dgm:cxn modelId="{E8944407-4947-6F49-AB99-742E9B6C5BB4}" type="presParOf" srcId="{C1177F19-27D6-C240-A6A2-1E06F08C860C}" destId="{BC4848F6-7329-5F4A-BE9F-8E19951DFE3E}" srcOrd="4" destOrd="0" presId="urn:microsoft.com/office/officeart/2005/8/layout/hChevron3"/>
    <dgm:cxn modelId="{F38D8AA2-B0CA-B94F-94D7-6A28661A91B3}" type="presParOf" srcId="{C1177F19-27D6-C240-A6A2-1E06F08C860C}" destId="{ECE578C1-D933-6C42-B1D2-3D91E4CBA33F}" srcOrd="5" destOrd="0" presId="urn:microsoft.com/office/officeart/2005/8/layout/hChevron3"/>
    <dgm:cxn modelId="{5B8B2CEE-C840-7B48-98BF-B976A4A62C7B}" type="presParOf" srcId="{C1177F19-27D6-C240-A6A2-1E06F08C860C}" destId="{BA2201A7-5880-7B41-BB9B-C88BD1DDDB5D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1C729-EC79-E040-AAF8-5547E4B8FC64}">
      <dsp:nvSpPr>
        <dsp:cNvPr id="0" name=""/>
        <dsp:cNvSpPr/>
      </dsp:nvSpPr>
      <dsp:spPr>
        <a:xfrm>
          <a:off x="3442" y="425824"/>
          <a:ext cx="3453990" cy="1381596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74676" rIns="37338" bIns="746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Audit Planning</a:t>
          </a:r>
        </a:p>
      </dsp:txBody>
      <dsp:txXfrm>
        <a:off x="3442" y="425824"/>
        <a:ext cx="3108591" cy="1381596"/>
      </dsp:txXfrm>
    </dsp:sp>
    <dsp:sp modelId="{1A112EEF-2167-E642-AE13-820260D53C79}">
      <dsp:nvSpPr>
        <dsp:cNvPr id="0" name=""/>
        <dsp:cNvSpPr/>
      </dsp:nvSpPr>
      <dsp:spPr>
        <a:xfrm>
          <a:off x="2766634" y="425824"/>
          <a:ext cx="3453990" cy="1381596"/>
        </a:xfrm>
        <a:prstGeom prst="chevron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Audit Preparation</a:t>
          </a:r>
        </a:p>
      </dsp:txBody>
      <dsp:txXfrm>
        <a:off x="3457432" y="425824"/>
        <a:ext cx="2072394" cy="1381596"/>
      </dsp:txXfrm>
    </dsp:sp>
    <dsp:sp modelId="{BC4848F6-7329-5F4A-BE9F-8E19951DFE3E}">
      <dsp:nvSpPr>
        <dsp:cNvPr id="0" name=""/>
        <dsp:cNvSpPr/>
      </dsp:nvSpPr>
      <dsp:spPr>
        <a:xfrm>
          <a:off x="5529826" y="425824"/>
          <a:ext cx="3453990" cy="1381596"/>
        </a:xfrm>
        <a:prstGeom prst="chevron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Audit Performance / Execute</a:t>
          </a:r>
        </a:p>
      </dsp:txBody>
      <dsp:txXfrm>
        <a:off x="6220624" y="425824"/>
        <a:ext cx="2072394" cy="1381596"/>
      </dsp:txXfrm>
    </dsp:sp>
    <dsp:sp modelId="{BA2201A7-5880-7B41-BB9B-C88BD1DDDB5D}">
      <dsp:nvSpPr>
        <dsp:cNvPr id="0" name=""/>
        <dsp:cNvSpPr/>
      </dsp:nvSpPr>
      <dsp:spPr>
        <a:xfrm>
          <a:off x="8293019" y="425824"/>
          <a:ext cx="3453990" cy="1381596"/>
        </a:xfrm>
        <a:prstGeom prst="chevron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74676" rIns="37338" bIns="746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Audit Reporting</a:t>
          </a:r>
        </a:p>
      </dsp:txBody>
      <dsp:txXfrm>
        <a:off x="8983817" y="425824"/>
        <a:ext cx="2072394" cy="13815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8F42B-B8C6-473E-AF2C-20BA428FFACC}" type="datetimeFigureOut">
              <a:rPr lang="en-US" smtClean="0"/>
              <a:t>10/7/24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5FF84-073B-42BC-B5C3-21DBC8A4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2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5FF84-073B-42BC-B5C3-21DBC8A4B1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97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2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7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4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11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5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7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9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8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9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9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7E59B-7152-44F7-8846-31BA082566C9}" type="datetimeFigureOut">
              <a:rPr lang="en-US" smtClean="0"/>
              <a:t>10/7/24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34B7A-58B8-4503-A493-B8FDC944E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8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468580" y="955967"/>
            <a:ext cx="9240983" cy="2604654"/>
          </a:xfrm>
          <a:prstGeom prst="rect">
            <a:avLst/>
          </a:prstGeom>
          <a:solidFill>
            <a:schemeClr val="bg1"/>
          </a:solidFill>
          <a:ln w="38100">
            <a:noFill/>
            <a:prstDash val="sysDash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d-ID" sz="2800" b="1" dirty="0">
              <a:solidFill>
                <a:schemeClr val="tx1"/>
              </a:solidFill>
              <a:latin typeface="Arial Narrow" panose="020B0606020202030204" pitchFamily="34" charset="0"/>
              <a:ea typeface="Adobe Fan Heiti Std B" panose="020B0700000000000000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Arial Narrow" panose="020B0606020202030204" pitchFamily="34" charset="0"/>
                <a:ea typeface="Adobe Fan Heiti Std B" panose="020B0700000000000000"/>
              </a:rPr>
              <a:t>KIU1042</a:t>
            </a:r>
            <a:endParaRPr lang="id-ID" sz="2800" b="1" dirty="0">
              <a:solidFill>
                <a:schemeClr val="tx1"/>
              </a:solidFill>
              <a:latin typeface="Arial Narrow" panose="020B0606020202030204" pitchFamily="34" charset="0"/>
              <a:ea typeface="Adobe Fan Heiti Std B" panose="020B0700000000000000"/>
            </a:endParaRPr>
          </a:p>
          <a:p>
            <a:pPr algn="ctr"/>
            <a:endParaRPr lang="en-ID" sz="2800" b="1" dirty="0">
              <a:solidFill>
                <a:schemeClr val="tx1"/>
              </a:solidFill>
              <a:latin typeface="Arial Narrow" panose="020B0606020202030204" pitchFamily="34" charset="0"/>
              <a:ea typeface="Adobe Fan Heiti Std B" panose="020B0700000000000000"/>
            </a:endParaRPr>
          </a:p>
          <a:p>
            <a:pPr algn="ctr"/>
            <a:r>
              <a:rPr lang="en-US" sz="4800" b="1" dirty="0">
                <a:solidFill>
                  <a:schemeClr val="tx1"/>
                </a:solidFill>
                <a:latin typeface="Arial Narrow" panose="020B0606020202030204" pitchFamily="34" charset="0"/>
                <a:ea typeface="Adobe Fan Heiti Std B" panose="020B0700000000000000"/>
              </a:rPr>
              <a:t>AUDIT TI</a:t>
            </a:r>
            <a:endParaRPr lang="id-ID" sz="4800" b="1" dirty="0">
              <a:solidFill>
                <a:schemeClr val="tx1"/>
              </a:solidFill>
              <a:latin typeface="Arial Narrow" panose="020B0606020202030204" pitchFamily="34" charset="0"/>
              <a:ea typeface="Adobe Fan Heiti Std B" panose="020B0700000000000000"/>
            </a:endParaRPr>
          </a:p>
          <a:p>
            <a:pPr algn="ctr"/>
            <a:r>
              <a:rPr lang="id-ID" sz="2400" b="1" dirty="0">
                <a:solidFill>
                  <a:schemeClr val="tx1"/>
                </a:solidFill>
                <a:latin typeface="Arial Narrow" panose="020B0606020202030204" pitchFamily="34" charset="0"/>
                <a:ea typeface="Adobe Fan Heiti Std B" panose="020B0700000000000000"/>
              </a:rPr>
              <a:t>(</a:t>
            </a:r>
            <a:r>
              <a:rPr lang="en-US" sz="2400" b="1" dirty="0">
                <a:solidFill>
                  <a:schemeClr val="tx1"/>
                </a:solidFill>
                <a:latin typeface="Arial Narrow" panose="020B0606020202030204" pitchFamily="34" charset="0"/>
                <a:ea typeface="Adobe Fan Heiti Std B" panose="020B0700000000000000"/>
              </a:rPr>
              <a:t>Chapter 5 : </a:t>
            </a:r>
            <a:r>
              <a:rPr lang="en-US" sz="2400" b="1" dirty="0" err="1">
                <a:solidFill>
                  <a:schemeClr val="tx1"/>
                </a:solidFill>
                <a:latin typeface="Arial Narrow" panose="020B0606020202030204" pitchFamily="34" charset="0"/>
                <a:ea typeface="Adobe Fan Heiti Std B" panose="020B0700000000000000"/>
              </a:rPr>
              <a:t>Tahapan</a:t>
            </a:r>
            <a:r>
              <a:rPr lang="en-US" sz="2400" b="1" dirty="0">
                <a:solidFill>
                  <a:schemeClr val="tx1"/>
                </a:solidFill>
                <a:latin typeface="Arial Narrow" panose="020B0606020202030204" pitchFamily="34" charset="0"/>
                <a:ea typeface="Adobe Fan Heiti Std B" panose="020B0700000000000000"/>
              </a:rPr>
              <a:t> Audit TI</a:t>
            </a:r>
            <a:r>
              <a:rPr lang="id-ID" sz="2400" b="1" dirty="0">
                <a:solidFill>
                  <a:schemeClr val="tx1"/>
                </a:solidFill>
                <a:latin typeface="Arial Narrow" panose="020B0606020202030204" pitchFamily="34" charset="0"/>
                <a:ea typeface="Adobe Fan Heiti Std B" panose="020B0700000000000000"/>
              </a:rPr>
              <a:t>)</a:t>
            </a:r>
            <a:endParaRPr lang="en-US" sz="2400" b="1" dirty="0">
              <a:solidFill>
                <a:schemeClr val="tx1"/>
              </a:solidFill>
              <a:latin typeface="Arial Narrow" panose="020B0606020202030204" pitchFamily="34" charset="0"/>
              <a:ea typeface="Adobe Fan Heiti Std B" panose="020B07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68580" y="4533900"/>
            <a:ext cx="9240984" cy="1035627"/>
          </a:xfrm>
          <a:prstGeom prst="rect">
            <a:avLst/>
          </a:prstGeom>
          <a:solidFill>
            <a:schemeClr val="bg1"/>
          </a:solidFill>
          <a:ln w="38100">
            <a:noFill/>
            <a:prstDash val="sysDash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Beny</a:t>
            </a:r>
            <a:r>
              <a:rPr lang="en-US" sz="2000" b="1" dirty="0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Prasetyo</a:t>
            </a:r>
            <a:r>
              <a:rPr lang="en-US" sz="2000" b="1" dirty="0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S.Kom</a:t>
            </a:r>
            <a:r>
              <a:rPr lang="en-US" sz="2000" b="1" dirty="0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., </a:t>
            </a:r>
            <a:r>
              <a:rPr lang="en-US" sz="2000" b="1" dirty="0" err="1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M.Kom</a:t>
            </a:r>
            <a:r>
              <a:rPr lang="en-US" sz="2000" b="1" dirty="0">
                <a:solidFill>
                  <a:schemeClr val="tx1"/>
                </a:solidFill>
                <a:latin typeface="Trebuchet MS" panose="020B0703020202090204" pitchFamily="34" charset="0"/>
                <a:ea typeface="Adobe Fan Heiti Std B" panose="020B0700000000000000"/>
              </a:rPr>
              <a:t>., CAPM., COBIT5-F.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B141FFDC-73A7-B34B-AFF0-A1E631FBF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106" y="589084"/>
            <a:ext cx="1832913" cy="18141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CEA311-9ECC-254A-8314-18089FA6A605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605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1DFB51-1116-3D4B-B116-3A66CEBAE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66" y="450628"/>
            <a:ext cx="1634087" cy="1634087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A9CAF5-BCC8-4E45-97CA-105A80A371B0}"/>
              </a:ext>
            </a:extLst>
          </p:cNvPr>
          <p:cNvGrpSpPr/>
          <p:nvPr/>
        </p:nvGrpSpPr>
        <p:grpSpPr>
          <a:xfrm>
            <a:off x="2293033" y="450628"/>
            <a:ext cx="8482819" cy="1575120"/>
            <a:chOff x="2293033" y="450628"/>
            <a:chExt cx="8482819" cy="1575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A7F0C3-D643-264E-9B59-400BAEF19E88}"/>
                </a:ext>
              </a:extLst>
            </p:cNvPr>
            <p:cNvSpPr/>
            <p:nvPr/>
          </p:nvSpPr>
          <p:spPr>
            <a:xfrm>
              <a:off x="2321169" y="829994"/>
              <a:ext cx="8454683" cy="119575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Mahasiswa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diharapkan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dapat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memahami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tahapan-tahapan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audit TI yang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merujuk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pada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beberapa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standar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/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pedoman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.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Mahasiswa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diharapkan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juga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dapat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menjelaskan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secara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detail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tiap-tiap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tahapan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dalam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audit TI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6D3864-F7F0-EC46-95B4-C548B04C05F8}"/>
                </a:ext>
              </a:extLst>
            </p:cNvPr>
            <p:cNvSpPr/>
            <p:nvPr/>
          </p:nvSpPr>
          <p:spPr>
            <a:xfrm>
              <a:off x="2293033" y="450628"/>
              <a:ext cx="4037429" cy="36529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latin typeface="Trebuchet MS" panose="020B0703020202090204" pitchFamily="34" charset="0"/>
                </a:rPr>
                <a:t>Kemampuan</a:t>
              </a:r>
              <a:r>
                <a:rPr lang="en-US" b="1" dirty="0">
                  <a:latin typeface="Trebuchet MS" panose="020B0703020202090204" pitchFamily="34" charset="0"/>
                </a:rPr>
                <a:t> Akhir yang </a:t>
              </a:r>
              <a:r>
                <a:rPr lang="en-US" b="1" dirty="0" err="1">
                  <a:latin typeface="Trebuchet MS" panose="020B0703020202090204" pitchFamily="34" charset="0"/>
                </a:rPr>
                <a:t>Diharapkan</a:t>
              </a:r>
              <a:endParaRPr lang="en-US" b="1" dirty="0">
                <a:latin typeface="Trebuchet MS" panose="020B0703020202090204" pitchFamily="34" charset="0"/>
              </a:endParaRPr>
            </a:p>
          </p:txBody>
        </p:sp>
      </p:grpSp>
      <p:pic>
        <p:nvPicPr>
          <p:cNvPr id="1030" name="Picture 6" descr="Kaca pembesar, search, zoom, cari Gratis Ikon dari User Interface">
            <a:extLst>
              <a:ext uri="{FF2B5EF4-FFF2-40B4-BE49-F238E27FC236}">
                <a16:creationId xmlns:a16="http://schemas.microsoft.com/office/drawing/2014/main" id="{356E132D-569C-BD48-9FA9-DD8831F81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903" y="3462327"/>
            <a:ext cx="2127445" cy="212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12BFD8B-8DBB-174D-B498-8B2AC6AFF0AA}"/>
              </a:ext>
            </a:extLst>
          </p:cNvPr>
          <p:cNvGrpSpPr/>
          <p:nvPr/>
        </p:nvGrpSpPr>
        <p:grpSpPr>
          <a:xfrm>
            <a:off x="429770" y="3707948"/>
            <a:ext cx="8473446" cy="1806586"/>
            <a:chOff x="2321169" y="450628"/>
            <a:chExt cx="8473446" cy="180658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B165E64-322E-9C44-9B0C-1BE0768EDF87}"/>
                </a:ext>
              </a:extLst>
            </p:cNvPr>
            <p:cNvSpPr/>
            <p:nvPr/>
          </p:nvSpPr>
          <p:spPr>
            <a:xfrm>
              <a:off x="2321169" y="829993"/>
              <a:ext cx="8454683" cy="1427221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285750" indent="-285750" algn="just">
                <a:buFont typeface="Wingdings" pitchFamily="2" charset="2"/>
                <a:buChar char="Ø"/>
              </a:pP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Tahapan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Audit TI</a:t>
              </a:r>
            </a:p>
            <a:p>
              <a:pPr marL="285750" indent="-285750" algn="just">
                <a:buFont typeface="Wingdings" pitchFamily="2" charset="2"/>
                <a:buChar char="Ø"/>
              </a:pP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Penjelasan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masing-masing </a:t>
              </a:r>
              <a:r>
                <a:rPr lang="en-US" dirty="0" err="1">
                  <a:solidFill>
                    <a:schemeClr val="tx1"/>
                  </a:solidFill>
                  <a:latin typeface="Trebuchet MS" panose="020B0703020202090204" pitchFamily="34" charset="0"/>
                </a:rPr>
                <a:t>Tahapan</a:t>
              </a:r>
              <a:r>
                <a:rPr lang="en-US" dirty="0">
                  <a:solidFill>
                    <a:schemeClr val="tx1"/>
                  </a:solidFill>
                  <a:latin typeface="Trebuchet MS" panose="020B0703020202090204" pitchFamily="34" charset="0"/>
                </a:rPr>
                <a:t> Audit TI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C22FDA9-19B2-8C4A-95C1-C5F9985854AA}"/>
                </a:ext>
              </a:extLst>
            </p:cNvPr>
            <p:cNvSpPr/>
            <p:nvPr/>
          </p:nvSpPr>
          <p:spPr>
            <a:xfrm>
              <a:off x="7033852" y="450628"/>
              <a:ext cx="3760763" cy="36529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Trebuchet MS" panose="020B0703020202090204" pitchFamily="34" charset="0"/>
                </a:rPr>
                <a:t>Outline </a:t>
              </a:r>
              <a:r>
                <a:rPr lang="en-US" b="1" dirty="0" err="1">
                  <a:latin typeface="Trebuchet MS" panose="020B0703020202090204" pitchFamily="34" charset="0"/>
                </a:rPr>
                <a:t>Materi</a:t>
              </a:r>
              <a:endParaRPr lang="en-US" b="1" dirty="0">
                <a:latin typeface="Trebuchet MS" panose="020B070302020209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174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185203" y="410924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rebuchet MS" panose="020B0703020202090204" pitchFamily="34" charset="0"/>
              </a:rPr>
              <a:t>Idealnya</a:t>
            </a:r>
            <a:r>
              <a:rPr lang="en-US" sz="2800" b="1" dirty="0">
                <a:latin typeface="Trebuchet MS" panose="020B0703020202090204" pitchFamily="34" charset="0"/>
              </a:rPr>
              <a:t> “</a:t>
            </a:r>
            <a:r>
              <a:rPr lang="en-US" sz="2800" b="1" i="1" dirty="0" err="1">
                <a:latin typeface="Trebuchet MS" panose="020B0703020202090204" pitchFamily="34" charset="0"/>
              </a:rPr>
              <a:t>seberapa</a:t>
            </a:r>
            <a:r>
              <a:rPr lang="en-US" sz="2800" b="1" i="1" dirty="0">
                <a:latin typeface="Trebuchet MS" panose="020B0703020202090204" pitchFamily="34" charset="0"/>
              </a:rPr>
              <a:t> </a:t>
            </a:r>
            <a:r>
              <a:rPr lang="en-US" sz="2800" b="1" i="1" dirty="0" err="1">
                <a:latin typeface="Trebuchet MS" panose="020B0703020202090204" pitchFamily="34" charset="0"/>
              </a:rPr>
              <a:t>sering</a:t>
            </a:r>
            <a:r>
              <a:rPr lang="en-US" sz="2800" b="1" dirty="0">
                <a:latin typeface="Trebuchet MS" panose="020B0703020202090204" pitchFamily="34" charset="0"/>
              </a:rPr>
              <a:t>” </a:t>
            </a:r>
            <a:r>
              <a:rPr lang="en-US" sz="2800" b="1" dirty="0" err="1">
                <a:latin typeface="Trebuchet MS" panose="020B0703020202090204" pitchFamily="34" charset="0"/>
              </a:rPr>
              <a:t>dilakukan</a:t>
            </a:r>
            <a:r>
              <a:rPr lang="en-US" sz="2800" b="1" dirty="0">
                <a:latin typeface="Trebuchet MS" panose="020B0703020202090204" pitchFamily="34" charset="0"/>
              </a:rPr>
              <a:t> Audit TI 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752305-3398-2240-84F9-B2CCF9994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769" y="1455731"/>
            <a:ext cx="8294461" cy="472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32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185203" y="410924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rebuchet MS" panose="020B0703020202090204" pitchFamily="34" charset="0"/>
              </a:rPr>
              <a:t>Tahapan</a:t>
            </a:r>
            <a:r>
              <a:rPr lang="en-US" sz="2800" b="1" dirty="0">
                <a:latin typeface="Trebuchet MS" panose="020B0703020202090204" pitchFamily="34" charset="0"/>
              </a:rPr>
              <a:t> Audit TI </a:t>
            </a:r>
            <a:r>
              <a:rPr lang="en-US" b="1" i="1" dirty="0">
                <a:latin typeface="Trebuchet MS" panose="020B0703020202090204" pitchFamily="34" charset="0"/>
              </a:rPr>
              <a:t>(</a:t>
            </a:r>
            <a:r>
              <a:rPr lang="en-US" b="1" i="1" dirty="0" err="1">
                <a:latin typeface="Trebuchet MS" panose="020B0703020202090204" pitchFamily="34" charset="0"/>
              </a:rPr>
              <a:t>disadur</a:t>
            </a:r>
            <a:r>
              <a:rPr lang="en-US" b="1" i="1" dirty="0">
                <a:latin typeface="Trebuchet MS" panose="020B0703020202090204" pitchFamily="34" charset="0"/>
              </a:rPr>
              <a:t> </a:t>
            </a:r>
            <a:r>
              <a:rPr lang="en-US" b="1" i="1" dirty="0" err="1">
                <a:latin typeface="Trebuchet MS" panose="020B0703020202090204" pitchFamily="34" charset="0"/>
              </a:rPr>
              <a:t>dari</a:t>
            </a:r>
            <a:r>
              <a:rPr lang="en-US" b="1" i="1" dirty="0">
                <a:latin typeface="Trebuchet MS" panose="020B0703020202090204" pitchFamily="34" charset="0"/>
              </a:rPr>
              <a:t> </a:t>
            </a:r>
            <a:r>
              <a:rPr lang="en-US" b="1" i="1" dirty="0" err="1">
                <a:latin typeface="Trebuchet MS" panose="020B0703020202090204" pitchFamily="34" charset="0"/>
              </a:rPr>
              <a:t>berbagai</a:t>
            </a:r>
            <a:r>
              <a:rPr lang="en-US" b="1" i="1" dirty="0">
                <a:latin typeface="Trebuchet MS" panose="020B0703020202090204" pitchFamily="34" charset="0"/>
              </a:rPr>
              <a:t> </a:t>
            </a:r>
            <a:r>
              <a:rPr lang="en-US" b="1" i="1" dirty="0" err="1">
                <a:latin typeface="Trebuchet MS" panose="020B0703020202090204" pitchFamily="34" charset="0"/>
              </a:rPr>
              <a:t>sumber</a:t>
            </a:r>
            <a:r>
              <a:rPr lang="en-US" b="1" i="1" dirty="0">
                <a:latin typeface="Trebuchet MS" panose="020B0703020202090204" pitchFamily="34" charset="0"/>
              </a:rPr>
              <a:t>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2757FD-CE3D-594D-BF8A-21C0BAE066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0884101"/>
              </p:ext>
            </p:extLst>
          </p:nvPr>
        </p:nvGraphicFramePr>
        <p:xfrm>
          <a:off x="256345" y="1195754"/>
          <a:ext cx="11750452" cy="2233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D01D9-09A0-1B43-9E8E-EA1ECCB88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42" y="3236686"/>
            <a:ext cx="11524558" cy="330235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D" sz="1600" b="1" dirty="0" err="1">
                <a:latin typeface="Trebuchet MS" panose="020B0603020202020204" pitchFamily="34" charset="0"/>
              </a:rPr>
              <a:t>Sumber</a:t>
            </a:r>
            <a:r>
              <a:rPr lang="en-ID" sz="1600" b="1" dirty="0">
                <a:latin typeface="Trebuchet MS" panose="020B0603020202020204" pitchFamily="34" charset="0"/>
              </a:rPr>
              <a:t> </a:t>
            </a:r>
            <a:r>
              <a:rPr lang="en-ID" sz="1600" b="1" dirty="0" err="1">
                <a:latin typeface="Trebuchet MS" panose="020B0603020202020204" pitchFamily="34" charset="0"/>
              </a:rPr>
              <a:t>Referensi</a:t>
            </a:r>
            <a:r>
              <a:rPr lang="en-ID" sz="1600" b="1" dirty="0">
                <a:latin typeface="Trebuchet MS" panose="020B0603020202020204" pitchFamily="34" charset="0"/>
              </a:rPr>
              <a:t> :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D" sz="1600" b="1" dirty="0">
                <a:latin typeface="Trebuchet MS" panose="020B0603020202020204" pitchFamily="34" charset="0"/>
              </a:rPr>
              <a:t>Stephen D. </a:t>
            </a:r>
            <a:r>
              <a:rPr lang="en-ID" sz="1600" b="1" dirty="0" err="1">
                <a:latin typeface="Trebuchet MS" panose="020B0603020202020204" pitchFamily="34" charset="0"/>
              </a:rPr>
              <a:t>Gantz</a:t>
            </a:r>
            <a:r>
              <a:rPr lang="en-ID" sz="1600" b="1" dirty="0">
                <a:latin typeface="Trebuchet MS" panose="020B0603020202020204" pitchFamily="34" charset="0"/>
              </a:rPr>
              <a:t>. 2014. The Basics of IT Audit, Purpose, Processes, and Practical Information. Elsevier. USA.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D" sz="1600" b="1" dirty="0">
                <a:latin typeface="Trebuchet MS" panose="020B0603020202020204" pitchFamily="34" charset="0"/>
              </a:rPr>
              <a:t>The Institute of Internal Auditors. 2008. Developing the IT Audit Plan. IIA. USA.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D" sz="1600" b="1" dirty="0">
                <a:latin typeface="Trebuchet MS" panose="020B0603020202020204" pitchFamily="34" charset="0"/>
              </a:rPr>
              <a:t>The Institute of Internal Auditors. 2018. Auditing IT Governance. IIA. USA. 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D" sz="1600" b="1" dirty="0">
                <a:latin typeface="Trebuchet MS" panose="020B0603020202020204" pitchFamily="34" charset="0"/>
              </a:rPr>
              <a:t>ISACA. 2013. COBIT5 for Assurance. ISACA.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D" sz="1600" b="1" dirty="0">
                <a:latin typeface="Trebuchet MS" panose="020B0703020202090204" pitchFamily="34" charset="0"/>
              </a:rPr>
              <a:t>ISO 19011:2011. Guidelines for auditing management systems. </a:t>
            </a:r>
          </a:p>
          <a:p>
            <a:pPr marL="0" indent="0">
              <a:lnSpc>
                <a:spcPct val="100000"/>
              </a:lnSpc>
              <a:buNone/>
            </a:pPr>
            <a:endParaRPr lang="en-ID" sz="1600" b="1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n-ID" sz="1600" b="1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n-ID" sz="1600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00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422568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Planning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286442" y="1250505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1175657" y="1306286"/>
            <a:ext cx="6531429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Understanding the Business Context and Organization Environment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F8288-6AC4-3443-97D2-B52C827800F2}"/>
              </a:ext>
            </a:extLst>
          </p:cNvPr>
          <p:cNvSpPr txBox="1"/>
          <p:nvPr/>
        </p:nvSpPr>
        <p:spPr>
          <a:xfrm>
            <a:off x="1175657" y="1667852"/>
            <a:ext cx="1045028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D" sz="1600" dirty="0" err="1">
                <a:latin typeface="Trebuchet MS" panose="020B0603020202020204" pitchFamily="34" charset="0"/>
              </a:rPr>
              <a:t>Fase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dimana</a:t>
            </a:r>
            <a:r>
              <a:rPr lang="en-ID" sz="1600" dirty="0">
                <a:latin typeface="Trebuchet MS" panose="020B0603020202020204" pitchFamily="34" charset="0"/>
              </a:rPr>
              <a:t> Tim Auditor </a:t>
            </a:r>
            <a:r>
              <a:rPr lang="en-ID" sz="1600" dirty="0" err="1">
                <a:latin typeface="Trebuchet MS" panose="020B0603020202020204" pitchFamily="34" charset="0"/>
              </a:rPr>
              <a:t>memahami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terlebih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dahulu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bagaimana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kondisi</a:t>
            </a:r>
            <a:r>
              <a:rPr lang="en-ID" sz="1600" dirty="0">
                <a:latin typeface="Trebuchet MS" panose="020B0603020202020204" pitchFamily="34" charset="0"/>
              </a:rPr>
              <a:t> environment dan proses </a:t>
            </a:r>
            <a:r>
              <a:rPr lang="en-ID" sz="1600" dirty="0" err="1">
                <a:latin typeface="Trebuchet MS" panose="020B0603020202020204" pitchFamily="34" charset="0"/>
              </a:rPr>
              <a:t>bisnis</a:t>
            </a:r>
            <a:r>
              <a:rPr lang="en-ID" sz="1600" dirty="0">
                <a:latin typeface="Trebuchet MS" panose="020B0603020202020204" pitchFamily="34" charset="0"/>
              </a:rPr>
              <a:t> pada </a:t>
            </a:r>
            <a:r>
              <a:rPr lang="en-ID" sz="1600" dirty="0" err="1">
                <a:latin typeface="Trebuchet MS" panose="020B0603020202020204" pitchFamily="34" charset="0"/>
              </a:rPr>
              <a:t>organisasi</a:t>
            </a:r>
            <a:r>
              <a:rPr lang="en-ID" sz="1600" dirty="0">
                <a:latin typeface="Trebuchet MS" panose="020B0603020202020204" pitchFamily="34" charset="0"/>
              </a:rPr>
              <a:t>.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088198-6985-434B-B9E8-F3FE43DBADDC}"/>
              </a:ext>
            </a:extLst>
          </p:cNvPr>
          <p:cNvSpPr/>
          <p:nvPr/>
        </p:nvSpPr>
        <p:spPr>
          <a:xfrm>
            <a:off x="11155675" y="2447260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5AC56-7118-CF41-9E4D-3534DCE2A429}"/>
              </a:ext>
            </a:extLst>
          </p:cNvPr>
          <p:cNvSpPr txBox="1"/>
          <p:nvPr/>
        </p:nvSpPr>
        <p:spPr>
          <a:xfrm>
            <a:off x="4441631" y="2581908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Determine Audit Scope and Objectives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718B2-F0B3-164E-B7FF-1FC68F1B6304}"/>
              </a:ext>
            </a:extLst>
          </p:cNvPr>
          <p:cNvSpPr txBox="1"/>
          <p:nvPr/>
        </p:nvSpPr>
        <p:spPr>
          <a:xfrm>
            <a:off x="1069407" y="2943474"/>
            <a:ext cx="99036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D" sz="1600" dirty="0" err="1">
                <a:latin typeface="Trebuchet MS" panose="020B0603020202020204" pitchFamily="34" charset="0"/>
              </a:rPr>
              <a:t>Fase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menentukan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tujuan</a:t>
            </a:r>
            <a:r>
              <a:rPr lang="en-ID" sz="1600" dirty="0">
                <a:latin typeface="Trebuchet MS" panose="020B0603020202020204" pitchFamily="34" charset="0"/>
              </a:rPr>
              <a:t> dan </a:t>
            </a:r>
            <a:r>
              <a:rPr lang="en-ID" sz="1600" dirty="0" err="1">
                <a:latin typeface="Trebuchet MS" panose="020B0603020202020204" pitchFamily="34" charset="0"/>
              </a:rPr>
              <a:t>ruang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lingkup</a:t>
            </a:r>
            <a:r>
              <a:rPr lang="en-ID" sz="1600" dirty="0">
                <a:latin typeface="Trebuchet MS" panose="020B0603020202020204" pitchFamily="34" charset="0"/>
              </a:rPr>
              <a:t> audit yang </a:t>
            </a:r>
            <a:r>
              <a:rPr lang="en-ID" sz="1600" dirty="0" err="1">
                <a:latin typeface="Trebuchet MS" panose="020B0603020202020204" pitchFamily="34" charset="0"/>
              </a:rPr>
              <a:t>akan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berkaitan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dengan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tahapan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lainnya</a:t>
            </a:r>
            <a:endParaRPr lang="en-ID" sz="1600" dirty="0">
              <a:latin typeface="Trebuchet MS" panose="020B0603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92F736-D6E6-CA4B-B0C4-8136A3C25C07}"/>
              </a:ext>
            </a:extLst>
          </p:cNvPr>
          <p:cNvSpPr/>
          <p:nvPr/>
        </p:nvSpPr>
        <p:spPr>
          <a:xfrm>
            <a:off x="286442" y="3633032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17F03C-3573-CD4F-AAE0-945E49663541}"/>
              </a:ext>
            </a:extLst>
          </p:cNvPr>
          <p:cNvSpPr txBox="1"/>
          <p:nvPr/>
        </p:nvSpPr>
        <p:spPr>
          <a:xfrm>
            <a:off x="1175657" y="3769545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Choose the Audit Standard / Procedure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389F18-6C1C-5A4F-8CCB-5C51395B1CFB}"/>
              </a:ext>
            </a:extLst>
          </p:cNvPr>
          <p:cNvSpPr txBox="1"/>
          <p:nvPr/>
        </p:nvSpPr>
        <p:spPr>
          <a:xfrm>
            <a:off x="1175657" y="4131111"/>
            <a:ext cx="990365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D" sz="1600" dirty="0" err="1">
                <a:latin typeface="Trebuchet MS" panose="020B0603020202020204" pitchFamily="34" charset="0"/>
              </a:rPr>
              <a:t>Fase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untuk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menentukan</a:t>
            </a:r>
            <a:r>
              <a:rPr lang="en-ID" sz="1600" dirty="0">
                <a:latin typeface="Trebuchet MS" panose="020B0603020202020204" pitchFamily="34" charset="0"/>
              </a:rPr>
              <a:t> / </a:t>
            </a:r>
            <a:r>
              <a:rPr lang="en-ID" sz="1600" dirty="0" err="1">
                <a:latin typeface="Trebuchet MS" panose="020B0603020202020204" pitchFamily="34" charset="0"/>
              </a:rPr>
              <a:t>memilih</a:t>
            </a:r>
            <a:r>
              <a:rPr lang="en-ID" sz="1600" dirty="0">
                <a:latin typeface="Trebuchet MS" panose="020B0603020202020204" pitchFamily="34" charset="0"/>
              </a:rPr>
              <a:t> / </a:t>
            </a:r>
            <a:r>
              <a:rPr lang="en-ID" sz="1600" dirty="0" err="1">
                <a:latin typeface="Trebuchet MS" panose="020B0603020202020204" pitchFamily="34" charset="0"/>
              </a:rPr>
              <a:t>mendesain</a:t>
            </a:r>
            <a:r>
              <a:rPr lang="en-ID" sz="1600" dirty="0">
                <a:latin typeface="Trebuchet MS" panose="020B0603020202020204" pitchFamily="34" charset="0"/>
              </a:rPr>
              <a:t> / tailoring </a:t>
            </a:r>
            <a:r>
              <a:rPr lang="en-ID" sz="1600" dirty="0" err="1">
                <a:latin typeface="Trebuchet MS" panose="020B0603020202020204" pitchFamily="34" charset="0"/>
              </a:rPr>
              <a:t>standar</a:t>
            </a:r>
            <a:r>
              <a:rPr lang="en-ID" sz="1600" dirty="0">
                <a:latin typeface="Trebuchet MS" panose="020B0603020202020204" pitchFamily="34" charset="0"/>
              </a:rPr>
              <a:t> audit </a:t>
            </a:r>
            <a:r>
              <a:rPr lang="en-ID" sz="1600" dirty="0" err="1">
                <a:latin typeface="Trebuchet MS" panose="020B0603020202020204" pitchFamily="34" charset="0"/>
              </a:rPr>
              <a:t>apa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akan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digunakan</a:t>
            </a:r>
            <a:r>
              <a:rPr lang="en-ID" sz="1600" dirty="0">
                <a:latin typeface="Trebuchet MS" panose="020B0603020202020204" pitchFamily="34" charset="0"/>
              </a:rPr>
              <a:t>. </a:t>
            </a:r>
            <a:r>
              <a:rPr lang="en-ID" sz="1600" dirty="0" err="1">
                <a:latin typeface="Trebuchet MS" panose="020B0603020202020204" pitchFamily="34" charset="0"/>
              </a:rPr>
              <a:t>Disesuaikan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dengan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tujuan</a:t>
            </a:r>
            <a:r>
              <a:rPr lang="en-ID" sz="1600" dirty="0">
                <a:latin typeface="Trebuchet MS" panose="020B0603020202020204" pitchFamily="34" charset="0"/>
              </a:rPr>
              <a:t> dan </a:t>
            </a:r>
            <a:r>
              <a:rPr lang="en-ID" sz="1600" dirty="0" err="1">
                <a:latin typeface="Trebuchet MS" panose="020B0603020202020204" pitchFamily="34" charset="0"/>
              </a:rPr>
              <a:t>ruang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lingkup</a:t>
            </a:r>
            <a:r>
              <a:rPr lang="en-ID" sz="1600" dirty="0">
                <a:latin typeface="Trebuchet MS" panose="020B0603020202020204" pitchFamily="34" charset="0"/>
              </a:rPr>
              <a:t> audit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69C6B7-6571-B042-B80B-A423451EC569}"/>
              </a:ext>
            </a:extLst>
          </p:cNvPr>
          <p:cNvSpPr/>
          <p:nvPr/>
        </p:nvSpPr>
        <p:spPr>
          <a:xfrm>
            <a:off x="11164430" y="4849027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D04CB7-DD20-3445-9AF3-7D87A2AFE5D2}"/>
              </a:ext>
            </a:extLst>
          </p:cNvPr>
          <p:cNvSpPr txBox="1"/>
          <p:nvPr/>
        </p:nvSpPr>
        <p:spPr>
          <a:xfrm>
            <a:off x="4499739" y="4983675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Assign Audit Resources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5CF784-3460-2F44-9A16-0BF141F4F368}"/>
              </a:ext>
            </a:extLst>
          </p:cNvPr>
          <p:cNvSpPr txBox="1"/>
          <p:nvPr/>
        </p:nvSpPr>
        <p:spPr>
          <a:xfrm>
            <a:off x="870857" y="5345241"/>
            <a:ext cx="1016031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D" sz="1600" dirty="0" err="1">
                <a:latin typeface="Trebuchet MS" panose="020B0603020202020204" pitchFamily="34" charset="0"/>
              </a:rPr>
              <a:t>Merencanakan</a:t>
            </a:r>
            <a:r>
              <a:rPr lang="en-ID" sz="1600" dirty="0">
                <a:latin typeface="Trebuchet MS" panose="020B0603020202020204" pitchFamily="34" charset="0"/>
              </a:rPr>
              <a:t> / </a:t>
            </a:r>
            <a:r>
              <a:rPr lang="en-ID" sz="1600" dirty="0" err="1">
                <a:latin typeface="Trebuchet MS" panose="020B0603020202020204" pitchFamily="34" charset="0"/>
              </a:rPr>
              <a:t>alokasi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sumber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daya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dibutuhkan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nantinya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selama</a:t>
            </a:r>
            <a:r>
              <a:rPr lang="en-ID" sz="1600" dirty="0">
                <a:latin typeface="Trebuchet MS" panose="020B0603020202020204" pitchFamily="34" charset="0"/>
              </a:rPr>
              <a:t> proses audit </a:t>
            </a:r>
            <a:r>
              <a:rPr lang="en-ID" sz="1600" dirty="0" err="1">
                <a:latin typeface="Trebuchet MS" panose="020B0603020202020204" pitchFamily="34" charset="0"/>
              </a:rPr>
              <a:t>berjalan</a:t>
            </a:r>
            <a:endParaRPr lang="en-ID" sz="16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10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422568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Preparation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286442" y="1171638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1175657" y="1306286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Preliminary Data Gathering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F8288-6AC4-3443-97D2-B52C827800F2}"/>
              </a:ext>
            </a:extLst>
          </p:cNvPr>
          <p:cNvSpPr txBox="1"/>
          <p:nvPr/>
        </p:nvSpPr>
        <p:spPr>
          <a:xfrm>
            <a:off x="1175657" y="1667852"/>
            <a:ext cx="1034868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D" sz="1600" dirty="0">
                <a:latin typeface="Trebuchet MS" panose="020B0603020202020204" pitchFamily="34" charset="0"/>
              </a:rPr>
              <a:t>Proses </a:t>
            </a:r>
            <a:r>
              <a:rPr lang="en-ID" sz="1600" dirty="0" err="1">
                <a:latin typeface="Trebuchet MS" panose="020B0603020202020204" pitchFamily="34" charset="0"/>
              </a:rPr>
              <a:t>pengumpulan</a:t>
            </a:r>
            <a:r>
              <a:rPr lang="en-ID" sz="1600" dirty="0">
                <a:latin typeface="Trebuchet MS" panose="020B0603020202020204" pitchFamily="34" charset="0"/>
              </a:rPr>
              <a:t> data dan </a:t>
            </a:r>
            <a:r>
              <a:rPr lang="en-ID" sz="1600" dirty="0" err="1">
                <a:latin typeface="Trebuchet MS" panose="020B0603020202020204" pitchFamily="34" charset="0"/>
              </a:rPr>
              <a:t>informasi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awal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dibutuhkan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selama</a:t>
            </a:r>
            <a:r>
              <a:rPr lang="en-ID" sz="1600" dirty="0">
                <a:latin typeface="Trebuchet MS" panose="020B0603020202020204" pitchFamily="34" charset="0"/>
              </a:rPr>
              <a:t> proses audit. Mis: Policy, SOP, </a:t>
            </a:r>
            <a:r>
              <a:rPr lang="en-ID" sz="1600" dirty="0" err="1">
                <a:latin typeface="Trebuchet MS" panose="020B0603020202020204" pitchFamily="34" charset="0"/>
              </a:rPr>
              <a:t>laporan</a:t>
            </a:r>
            <a:r>
              <a:rPr lang="en-ID" sz="1600" dirty="0">
                <a:latin typeface="Trebuchet MS" panose="020B0603020202020204" pitchFamily="34" charset="0"/>
              </a:rPr>
              <a:t> audit </a:t>
            </a:r>
            <a:r>
              <a:rPr lang="en-ID" sz="1600" dirty="0" err="1">
                <a:latin typeface="Trebuchet MS" panose="020B0603020202020204" pitchFamily="34" charset="0"/>
              </a:rPr>
              <a:t>sebelumnya</a:t>
            </a:r>
            <a:r>
              <a:rPr lang="en-ID" sz="1600" dirty="0">
                <a:latin typeface="Trebuchet MS" panose="020B0603020202020204" pitchFamily="34" charset="0"/>
              </a:rPr>
              <a:t> / </a:t>
            </a:r>
            <a:r>
              <a:rPr lang="en-ID" sz="1600" dirty="0" err="1">
                <a:latin typeface="Trebuchet MS" panose="020B0603020202020204" pitchFamily="34" charset="0"/>
              </a:rPr>
              <a:t>terkait</a:t>
            </a:r>
            <a:r>
              <a:rPr lang="en-ID" sz="1600" dirty="0">
                <a:latin typeface="Trebuchet MS" panose="020B0603020202020204" pitchFamily="34" charset="0"/>
              </a:rPr>
              <a:t>, </a:t>
            </a:r>
            <a:r>
              <a:rPr lang="en-ID" sz="1600" dirty="0" err="1">
                <a:latin typeface="Trebuchet MS" panose="020B0603020202020204" pitchFamily="34" charset="0"/>
              </a:rPr>
              <a:t>dll</a:t>
            </a:r>
            <a:r>
              <a:rPr lang="en-ID" sz="1600" dirty="0">
                <a:latin typeface="Trebuchet MS" panose="020B0603020202020204" pitchFamily="34" charset="0"/>
              </a:rPr>
              <a:t>.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088198-6985-434B-B9E8-F3FE43DBADDC}"/>
              </a:ext>
            </a:extLst>
          </p:cNvPr>
          <p:cNvSpPr/>
          <p:nvPr/>
        </p:nvSpPr>
        <p:spPr>
          <a:xfrm>
            <a:off x="11132145" y="3403374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5AC56-7118-CF41-9E4D-3534DCE2A429}"/>
              </a:ext>
            </a:extLst>
          </p:cNvPr>
          <p:cNvSpPr txBox="1"/>
          <p:nvPr/>
        </p:nvSpPr>
        <p:spPr>
          <a:xfrm>
            <a:off x="4441371" y="3538022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Conduct a Preliminary </a:t>
            </a:r>
            <a:r>
              <a:rPr lang="en-ID" dirty="0" err="1">
                <a:solidFill>
                  <a:schemeClr val="bg1"/>
                </a:solidFill>
                <a:latin typeface="Trebuchet MS" panose="020B0603020202020204" pitchFamily="34" charset="0"/>
              </a:rPr>
              <a:t>Assesment</a:t>
            </a:r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 / Desk Evaluation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718B2-F0B3-164E-B7FF-1FC68F1B6304}"/>
              </a:ext>
            </a:extLst>
          </p:cNvPr>
          <p:cNvSpPr txBox="1"/>
          <p:nvPr/>
        </p:nvSpPr>
        <p:spPr>
          <a:xfrm>
            <a:off x="344811" y="3899588"/>
            <a:ext cx="1062799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D" sz="1600" dirty="0" err="1">
                <a:latin typeface="Trebuchet MS" panose="020B0603020202020204" pitchFamily="34" charset="0"/>
              </a:rPr>
              <a:t>Fase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dimana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tim</a:t>
            </a:r>
            <a:r>
              <a:rPr lang="en-ID" sz="1600" dirty="0">
                <a:latin typeface="Trebuchet MS" panose="020B0603020202020204" pitchFamily="34" charset="0"/>
              </a:rPr>
              <a:t> Auditor </a:t>
            </a:r>
            <a:r>
              <a:rPr lang="en-ID" sz="1600" dirty="0" err="1">
                <a:latin typeface="Trebuchet MS" panose="020B0603020202020204" pitchFamily="34" charset="0"/>
              </a:rPr>
              <a:t>melakukan</a:t>
            </a:r>
            <a:r>
              <a:rPr lang="en-ID" sz="1600" dirty="0">
                <a:latin typeface="Trebuchet MS" panose="020B0603020202020204" pitchFamily="34" charset="0"/>
              </a:rPr>
              <a:t> preliminary </a:t>
            </a:r>
            <a:r>
              <a:rPr lang="en-ID" sz="1600" dirty="0" err="1">
                <a:latin typeface="Trebuchet MS" panose="020B0603020202020204" pitchFamily="34" charset="0"/>
              </a:rPr>
              <a:t>asesmen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untuk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mengidentifikasi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risiko</a:t>
            </a:r>
            <a:r>
              <a:rPr lang="en-ID" sz="1600" dirty="0">
                <a:latin typeface="Trebuchet MS" panose="020B0603020202020204" pitchFamily="34" charset="0"/>
              </a:rPr>
              <a:t>, </a:t>
            </a:r>
            <a:r>
              <a:rPr lang="en-ID" sz="1600" dirty="0" err="1">
                <a:latin typeface="Trebuchet MS" panose="020B0603020202020204" pitchFamily="34" charset="0"/>
              </a:rPr>
              <a:t>skenario</a:t>
            </a:r>
            <a:r>
              <a:rPr lang="en-ID" sz="1600" dirty="0">
                <a:latin typeface="Trebuchet MS" panose="020B0603020202020204" pitchFamily="34" charset="0"/>
              </a:rPr>
              <a:t> control </a:t>
            </a:r>
            <a:r>
              <a:rPr lang="en-ID" sz="1600" dirty="0" err="1">
                <a:latin typeface="Trebuchet MS" panose="020B0603020202020204" pitchFamily="34" charset="0"/>
              </a:rPr>
              <a:t>risiko</a:t>
            </a:r>
            <a:r>
              <a:rPr lang="en-ID" sz="1600" dirty="0">
                <a:latin typeface="Trebuchet MS" panose="020B0603020202020204" pitchFamily="34" charset="0"/>
              </a:rPr>
              <a:t>, </a:t>
            </a:r>
            <a:r>
              <a:rPr lang="en-ID" sz="1600" dirty="0" err="1">
                <a:latin typeface="Trebuchet MS" panose="020B0603020202020204" pitchFamily="34" charset="0"/>
              </a:rPr>
              <a:t>hingga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mengidentifikasi</a:t>
            </a:r>
            <a:r>
              <a:rPr lang="en-ID" sz="1600" dirty="0">
                <a:latin typeface="Trebuchet MS" panose="020B0603020202020204" pitchFamily="34" charset="0"/>
              </a:rPr>
              <a:t> peta </a:t>
            </a:r>
            <a:r>
              <a:rPr lang="en-ID" sz="1600" dirty="0" err="1">
                <a:latin typeface="Trebuchet MS" panose="020B0603020202020204" pitchFamily="34" charset="0"/>
              </a:rPr>
              <a:t>prioritisasi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risiko</a:t>
            </a:r>
            <a:r>
              <a:rPr lang="en-ID" sz="1600" dirty="0">
                <a:latin typeface="Trebuchet MS" panose="020B0603020202020204" pitchFamily="34" charset="0"/>
              </a:rPr>
              <a:t> (heath maps). Hasil preliminary </a:t>
            </a:r>
            <a:r>
              <a:rPr lang="en-ID" sz="1600" dirty="0" err="1">
                <a:latin typeface="Trebuchet MS" panose="020B0603020202020204" pitchFamily="34" charset="0"/>
              </a:rPr>
              <a:t>asesmen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akan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sangat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berguna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ketika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tim</a:t>
            </a:r>
            <a:r>
              <a:rPr lang="en-ID" sz="1600" dirty="0">
                <a:latin typeface="Trebuchet MS" panose="020B0603020202020204" pitchFamily="34" charset="0"/>
              </a:rPr>
              <a:t> Auditor </a:t>
            </a:r>
            <a:r>
              <a:rPr lang="en-ID" sz="1600" dirty="0" err="1">
                <a:latin typeface="Trebuchet MS" panose="020B0603020202020204" pitchFamily="34" charset="0"/>
              </a:rPr>
              <a:t>melakukan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pengumpulan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bukti</a:t>
            </a:r>
            <a:r>
              <a:rPr lang="en-ID" sz="1600" dirty="0">
                <a:latin typeface="Trebuchet MS" panose="020B0603020202020204" pitchFamily="34" charset="0"/>
              </a:rPr>
              <a:t> dan </a:t>
            </a:r>
            <a:r>
              <a:rPr lang="en-ID" sz="1600" dirty="0" err="1">
                <a:latin typeface="Trebuchet MS" panose="020B0603020202020204" pitchFamily="34" charset="0"/>
              </a:rPr>
              <a:t>analisis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bukti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0557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422568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Performance / Execution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286442" y="1177220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1175657" y="1306286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Collecting the Evidence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F8288-6AC4-3443-97D2-B52C827800F2}"/>
              </a:ext>
            </a:extLst>
          </p:cNvPr>
          <p:cNvSpPr txBox="1"/>
          <p:nvPr/>
        </p:nvSpPr>
        <p:spPr>
          <a:xfrm>
            <a:off x="1175657" y="1667852"/>
            <a:ext cx="1034868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D" sz="1600" dirty="0" err="1">
                <a:latin typeface="Trebuchet MS" panose="020B0603020202020204" pitchFamily="34" charset="0"/>
              </a:rPr>
              <a:t>Fase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dimana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tim</a:t>
            </a:r>
            <a:r>
              <a:rPr lang="en-ID" sz="1600" dirty="0">
                <a:latin typeface="Trebuchet MS" panose="020B0603020202020204" pitchFamily="34" charset="0"/>
              </a:rPr>
              <a:t> Auditor </a:t>
            </a:r>
            <a:r>
              <a:rPr lang="en-ID" sz="1600" dirty="0" err="1">
                <a:latin typeface="Trebuchet MS" panose="020B0603020202020204" pitchFamily="34" charset="0"/>
              </a:rPr>
              <a:t>melakukan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pengumpulan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bukti-bukti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dibutuhkan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untuk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asesmen</a:t>
            </a:r>
            <a:r>
              <a:rPr lang="en-ID" sz="1600" dirty="0">
                <a:latin typeface="Trebuchet MS" panose="020B0603020202020204" pitchFamily="34" charset="0"/>
              </a:rPr>
              <a:t>. </a:t>
            </a:r>
            <a:r>
              <a:rPr lang="en-ID" sz="1600" dirty="0" err="1">
                <a:latin typeface="Trebuchet MS" panose="020B0603020202020204" pitchFamily="34" charset="0"/>
              </a:rPr>
              <a:t>Pengumpulan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bukti-bukti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dilakukan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melalui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sumber</a:t>
            </a:r>
            <a:r>
              <a:rPr lang="en-ID" sz="1600" dirty="0">
                <a:latin typeface="Trebuchet MS" panose="020B0603020202020204" pitchFamily="34" charset="0"/>
              </a:rPr>
              <a:t> dan </a:t>
            </a:r>
            <a:r>
              <a:rPr lang="en-ID" sz="1600" dirty="0" err="1">
                <a:latin typeface="Trebuchet MS" panose="020B0603020202020204" pitchFamily="34" charset="0"/>
              </a:rPr>
              <a:t>pendekatan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bermacam-macm</a:t>
            </a:r>
            <a:r>
              <a:rPr lang="en-ID" sz="1600" dirty="0">
                <a:latin typeface="Trebuchet MS" panose="020B0603020202020204" pitchFamily="34" charset="0"/>
              </a:rPr>
              <a:t>.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088198-6985-434B-B9E8-F3FE43DBADDC}"/>
              </a:ext>
            </a:extLst>
          </p:cNvPr>
          <p:cNvSpPr/>
          <p:nvPr/>
        </p:nvSpPr>
        <p:spPr>
          <a:xfrm>
            <a:off x="11166821" y="3359614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5AC56-7118-CF41-9E4D-3534DCE2A429}"/>
              </a:ext>
            </a:extLst>
          </p:cNvPr>
          <p:cNvSpPr txBox="1"/>
          <p:nvPr/>
        </p:nvSpPr>
        <p:spPr>
          <a:xfrm>
            <a:off x="4456145" y="3494262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Analysis of 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718B2-F0B3-164E-B7FF-1FC68F1B6304}"/>
              </a:ext>
            </a:extLst>
          </p:cNvPr>
          <p:cNvSpPr txBox="1"/>
          <p:nvPr/>
        </p:nvSpPr>
        <p:spPr>
          <a:xfrm>
            <a:off x="330037" y="3855828"/>
            <a:ext cx="10657538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D" sz="1600" dirty="0" err="1">
                <a:latin typeface="Trebuchet MS" panose="020B0603020202020204" pitchFamily="34" charset="0"/>
              </a:rPr>
              <a:t>Fase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untuk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menganalisis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bukti</a:t>
            </a:r>
            <a:r>
              <a:rPr lang="en-ID" sz="1600" dirty="0">
                <a:latin typeface="Trebuchet MS" panose="020B0603020202020204" pitchFamily="34" charset="0"/>
              </a:rPr>
              <a:t>, data, dan </a:t>
            </a:r>
            <a:r>
              <a:rPr lang="en-ID" sz="1600" dirty="0" err="1">
                <a:latin typeface="Trebuchet MS" panose="020B0603020202020204" pitchFamily="34" charset="0"/>
              </a:rPr>
              <a:t>informasi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sudah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dikumpulkan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dengan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menggunakan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metode</a:t>
            </a:r>
            <a:r>
              <a:rPr lang="en-ID" sz="1600" dirty="0">
                <a:latin typeface="Trebuchet MS" panose="020B0603020202020204" pitchFamily="34" charset="0"/>
              </a:rPr>
              <a:t> dan </a:t>
            </a:r>
            <a:r>
              <a:rPr lang="en-ID" sz="1600" dirty="0" err="1">
                <a:latin typeface="Trebuchet MS" panose="020B0603020202020204" pitchFamily="34" charset="0"/>
              </a:rPr>
              <a:t>teknik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analisis</a:t>
            </a:r>
            <a:r>
              <a:rPr lang="en-ID" sz="1600" dirty="0">
                <a:latin typeface="Trebuchet MS" panose="020B0603020202020204" pitchFamily="34" charset="0"/>
              </a:rPr>
              <a:t> data yang </a:t>
            </a:r>
            <a:r>
              <a:rPr lang="en-ID" sz="1600" dirty="0" err="1">
                <a:latin typeface="Trebuchet MS" panose="020B0603020202020204" pitchFamily="34" charset="0"/>
              </a:rPr>
              <a:t>telah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ditentukan</a:t>
            </a:r>
            <a:r>
              <a:rPr lang="en-ID" sz="1600" dirty="0">
                <a:latin typeface="Trebuchet MS" panose="020B0603020202020204" pitchFamily="34" charset="0"/>
              </a:rPr>
              <a:t> di </a:t>
            </a:r>
            <a:r>
              <a:rPr lang="en-ID" sz="1600" dirty="0" err="1">
                <a:latin typeface="Trebuchet MS" panose="020B0603020202020204" pitchFamily="34" charset="0"/>
              </a:rPr>
              <a:t>tahap</a:t>
            </a:r>
            <a:r>
              <a:rPr lang="en-ID" sz="1600" dirty="0">
                <a:latin typeface="Trebuchet MS" panose="020B0603020202020204" pitchFamily="34" charset="0"/>
              </a:rPr>
              <a:t> planning. </a:t>
            </a:r>
          </a:p>
          <a:p>
            <a:pPr algn="r"/>
            <a:endParaRPr lang="en-ID" sz="1600" dirty="0">
              <a:latin typeface="Trebuchet MS" panose="020B0603020202020204" pitchFamily="34" charset="0"/>
            </a:endParaRPr>
          </a:p>
          <a:p>
            <a:pPr algn="r"/>
            <a:r>
              <a:rPr lang="en-ID" sz="1600" dirty="0">
                <a:latin typeface="Trebuchet MS" panose="020B0603020202020204" pitchFamily="34" charset="0"/>
              </a:rPr>
              <a:t>Pada </a:t>
            </a:r>
            <a:r>
              <a:rPr lang="en-ID" sz="1600" dirty="0" err="1">
                <a:latin typeface="Trebuchet MS" panose="020B0603020202020204" pitchFamily="34" charset="0"/>
              </a:rPr>
              <a:t>tahap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ini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tim</a:t>
            </a:r>
            <a:r>
              <a:rPr lang="en-ID" sz="1600" dirty="0">
                <a:latin typeface="Trebuchet MS" panose="020B0603020202020204" pitchFamily="34" charset="0"/>
              </a:rPr>
              <a:t> auditor </a:t>
            </a:r>
            <a:r>
              <a:rPr lang="en-ID" sz="1600" dirty="0" err="1">
                <a:latin typeface="Trebuchet MS" panose="020B0603020202020204" pitchFamily="34" charset="0"/>
              </a:rPr>
              <a:t>akan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melakukan</a:t>
            </a:r>
            <a:r>
              <a:rPr lang="en-ID" sz="1600" dirty="0">
                <a:latin typeface="Trebuchet MS" panose="020B0603020202020204" pitchFamily="34" charset="0"/>
              </a:rPr>
              <a:t> crosscheck and compare </a:t>
            </a:r>
            <a:r>
              <a:rPr lang="en-ID" sz="1600" dirty="0" err="1">
                <a:latin typeface="Trebuchet MS" panose="020B0603020202020204" pitchFamily="34" charset="0"/>
              </a:rPr>
              <a:t>antara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bukti-bukti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sudah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dikumpulkan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dengan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kriteria-kriteria</a:t>
            </a:r>
            <a:r>
              <a:rPr lang="en-ID" sz="1600" dirty="0">
                <a:latin typeface="Trebuchet MS" panose="020B0603020202020204" pitchFamily="34" charset="0"/>
              </a:rPr>
              <a:t> audit . </a:t>
            </a:r>
          </a:p>
        </p:txBody>
      </p:sp>
    </p:spTree>
    <p:extLst>
      <p:ext uri="{BB962C8B-B14F-4D97-AF65-F5344CB8AC3E}">
        <p14:creationId xmlns:p14="http://schemas.microsoft.com/office/powerpoint/2010/main" val="201002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422568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Reporting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286442" y="1195754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1175657" y="1306286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Audit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F8288-6AC4-3443-97D2-B52C827800F2}"/>
              </a:ext>
            </a:extLst>
          </p:cNvPr>
          <p:cNvSpPr txBox="1"/>
          <p:nvPr/>
        </p:nvSpPr>
        <p:spPr>
          <a:xfrm>
            <a:off x="1175657" y="1667852"/>
            <a:ext cx="10305143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D" sz="1600" dirty="0" err="1">
                <a:latin typeface="Trebuchet MS" panose="020B0603020202020204" pitchFamily="34" charset="0"/>
              </a:rPr>
              <a:t>Fase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dimana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tim</a:t>
            </a:r>
            <a:r>
              <a:rPr lang="en-ID" sz="1600" dirty="0">
                <a:latin typeface="Trebuchet MS" panose="020B0603020202020204" pitchFamily="34" charset="0"/>
              </a:rPr>
              <a:t> auditor </a:t>
            </a:r>
            <a:r>
              <a:rPr lang="en-ID" sz="1600" dirty="0" err="1">
                <a:latin typeface="Trebuchet MS" panose="020B0603020202020204" pitchFamily="34" charset="0"/>
              </a:rPr>
              <a:t>mengidentifikasi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apa-apa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saja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menjadi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hasil</a:t>
            </a:r>
            <a:r>
              <a:rPr lang="en-ID" sz="1600" dirty="0">
                <a:latin typeface="Trebuchet MS" panose="020B0603020202020204" pitchFamily="34" charset="0"/>
              </a:rPr>
              <a:t>/</a:t>
            </a:r>
            <a:r>
              <a:rPr lang="en-ID" sz="1600" dirty="0" err="1">
                <a:latin typeface="Trebuchet MS" panose="020B0603020202020204" pitchFamily="34" charset="0"/>
              </a:rPr>
              <a:t>temuan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dari</a:t>
            </a:r>
            <a:r>
              <a:rPr lang="en-ID" sz="1600" dirty="0">
                <a:latin typeface="Trebuchet MS" panose="020B0603020202020204" pitchFamily="34" charset="0"/>
              </a:rPr>
              <a:t> audit. Hasil audit </a:t>
            </a:r>
            <a:r>
              <a:rPr lang="en-ID" sz="1600" dirty="0" err="1">
                <a:latin typeface="Trebuchet MS" panose="020B0603020202020204" pitchFamily="34" charset="0"/>
              </a:rPr>
              <a:t>didapatkan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dari</a:t>
            </a:r>
            <a:r>
              <a:rPr lang="en-ID" sz="1600" dirty="0">
                <a:latin typeface="Trebuchet MS" panose="020B0603020202020204" pitchFamily="34" charset="0"/>
              </a:rPr>
              <a:t> proses </a:t>
            </a:r>
            <a:r>
              <a:rPr lang="en-ID" sz="1600" dirty="0" err="1">
                <a:latin typeface="Trebuchet MS" panose="020B0603020202020204" pitchFamily="34" charset="0"/>
              </a:rPr>
              <a:t>komparasi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antara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bukti-bukti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dengan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kriteria</a:t>
            </a:r>
            <a:r>
              <a:rPr lang="en-ID" sz="1600" dirty="0">
                <a:latin typeface="Trebuchet MS" panose="020B0603020202020204" pitchFamily="34" charset="0"/>
              </a:rPr>
              <a:t> audit yang </a:t>
            </a:r>
            <a:r>
              <a:rPr lang="en-ID" sz="1600" dirty="0" err="1">
                <a:latin typeface="Trebuchet MS" panose="020B0603020202020204" pitchFamily="34" charset="0"/>
              </a:rPr>
              <a:t>telah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ditentukan</a:t>
            </a:r>
            <a:r>
              <a:rPr lang="en-ID" sz="1600" dirty="0">
                <a:latin typeface="Trebuchet MS" panose="020B0603020202020204" pitchFamily="34" charset="0"/>
              </a:rPr>
              <a:t>. Hasil audit </a:t>
            </a:r>
            <a:r>
              <a:rPr lang="en-ID" sz="1600" dirty="0" err="1">
                <a:latin typeface="Trebuchet MS" panose="020B0603020202020204" pitchFamily="34" charset="0"/>
              </a:rPr>
              <a:t>akan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menjelaskan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secara</a:t>
            </a:r>
            <a:r>
              <a:rPr lang="en-ID" sz="1600" dirty="0">
                <a:latin typeface="Trebuchet MS" panose="020B0603020202020204" pitchFamily="34" charset="0"/>
              </a:rPr>
              <a:t> detail </a:t>
            </a:r>
            <a:r>
              <a:rPr lang="en-ID" sz="1600" dirty="0" err="1">
                <a:latin typeface="Trebuchet MS" panose="020B0603020202020204" pitchFamily="34" charset="0"/>
              </a:rPr>
              <a:t>dari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hasil</a:t>
            </a:r>
            <a:r>
              <a:rPr lang="en-ID" sz="1600" dirty="0">
                <a:latin typeface="Trebuchet MS" panose="020B0603020202020204" pitchFamily="34" charset="0"/>
              </a:rPr>
              <a:t> audit (</a:t>
            </a:r>
            <a:r>
              <a:rPr lang="en-ID" sz="1600" b="1" dirty="0">
                <a:latin typeface="Trebuchet MS" panose="020B0603020202020204" pitchFamily="34" charset="0"/>
              </a:rPr>
              <a:t>success or failure</a:t>
            </a:r>
            <a:r>
              <a:rPr lang="en-ID" sz="1600" dirty="0">
                <a:latin typeface="Trebuchet MS" panose="020B0603020202020204" pitchFamily="34" charset="0"/>
              </a:rPr>
              <a:t>) dan detail control weakness yang </a:t>
            </a:r>
            <a:r>
              <a:rPr lang="en-ID" sz="1600" dirty="0" err="1">
                <a:latin typeface="Trebuchet MS" panose="020B0603020202020204" pitchFamily="34" charset="0"/>
              </a:rPr>
              <a:t>lengkap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beserta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rekomendasi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dari</a:t>
            </a:r>
            <a:r>
              <a:rPr lang="en-ID" sz="1600" dirty="0">
                <a:latin typeface="Trebuchet MS" panose="020B0603020202020204" pitchFamily="34" charset="0"/>
              </a:rPr>
              <a:t> auditor </a:t>
            </a:r>
            <a:r>
              <a:rPr lang="en-ID" sz="1600" dirty="0" err="1">
                <a:latin typeface="Trebuchet MS" panose="020B0603020202020204" pitchFamily="34" charset="0"/>
              </a:rPr>
              <a:t>untuk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perbaikan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selanjutnya</a:t>
            </a:r>
            <a:endParaRPr lang="en-ID" sz="1600" dirty="0">
              <a:latin typeface="Trebuchet MS" panose="020B0603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088198-6985-434B-B9E8-F3FE43DBADDC}"/>
              </a:ext>
            </a:extLst>
          </p:cNvPr>
          <p:cNvSpPr/>
          <p:nvPr/>
        </p:nvSpPr>
        <p:spPr>
          <a:xfrm>
            <a:off x="11146920" y="3388979"/>
            <a:ext cx="859877" cy="74390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5AC56-7118-CF41-9E4D-3534DCE2A429}"/>
              </a:ext>
            </a:extLst>
          </p:cNvPr>
          <p:cNvSpPr txBox="1"/>
          <p:nvPr/>
        </p:nvSpPr>
        <p:spPr>
          <a:xfrm>
            <a:off x="4456145" y="3494262"/>
            <a:ext cx="6531429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Tailoring a Formal Audit Report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718B2-F0B3-164E-B7FF-1FC68F1B6304}"/>
              </a:ext>
            </a:extLst>
          </p:cNvPr>
          <p:cNvSpPr txBox="1"/>
          <p:nvPr/>
        </p:nvSpPr>
        <p:spPr>
          <a:xfrm>
            <a:off x="1001487" y="3855828"/>
            <a:ext cx="998608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D" sz="1600" dirty="0">
                <a:latin typeface="Trebuchet MS" panose="020B0603020202020204" pitchFamily="34" charset="0"/>
              </a:rPr>
              <a:t>Tim auditor </a:t>
            </a:r>
            <a:r>
              <a:rPr lang="en-ID" sz="1600" dirty="0" err="1">
                <a:latin typeface="Trebuchet MS" panose="020B0603020202020204" pitchFamily="34" charset="0"/>
              </a:rPr>
              <a:t>membuat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laporan</a:t>
            </a:r>
            <a:r>
              <a:rPr lang="en-ID" sz="1600" dirty="0">
                <a:latin typeface="Trebuchet MS" panose="020B0603020202020204" pitchFamily="34" charset="0"/>
              </a:rPr>
              <a:t> audit yang formal dan </a:t>
            </a:r>
            <a:r>
              <a:rPr lang="en-ID" sz="1600" dirty="0" err="1">
                <a:latin typeface="Trebuchet MS" panose="020B0603020202020204" pitchFamily="34" charset="0"/>
              </a:rPr>
              <a:t>sistematis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dengan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struktur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laporan</a:t>
            </a:r>
            <a:r>
              <a:rPr lang="en-ID" sz="1600" dirty="0">
                <a:latin typeface="Trebuchet MS" panose="020B0603020202020204" pitchFamily="34" charset="0"/>
              </a:rPr>
              <a:t> yang </a:t>
            </a:r>
            <a:r>
              <a:rPr lang="en-ID" sz="1600" dirty="0" err="1">
                <a:latin typeface="Trebuchet MS" panose="020B0603020202020204" pitchFamily="34" charset="0"/>
              </a:rPr>
              <a:t>urut</a:t>
            </a:r>
            <a:r>
              <a:rPr lang="en-ID" sz="1600" dirty="0">
                <a:latin typeface="Trebuchet MS" panose="020B0603020202020204" pitchFamily="34" charset="0"/>
              </a:rPr>
              <a:t> dan detail. </a:t>
            </a:r>
            <a:r>
              <a:rPr lang="en-ID" sz="1600" dirty="0" err="1">
                <a:latin typeface="Trebuchet MS" panose="020B0603020202020204" pitchFamily="34" charset="0"/>
              </a:rPr>
              <a:t>Laporan</a:t>
            </a:r>
            <a:r>
              <a:rPr lang="en-ID" sz="1600" dirty="0">
                <a:latin typeface="Trebuchet MS" panose="020B0603020202020204" pitchFamily="34" charset="0"/>
              </a:rPr>
              <a:t> audit </a:t>
            </a:r>
            <a:r>
              <a:rPr lang="en-ID" sz="1600" dirty="0" err="1">
                <a:latin typeface="Trebuchet MS" panose="020B0603020202020204" pitchFamily="34" charset="0"/>
              </a:rPr>
              <a:t>harus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memuat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dirty="0" err="1">
                <a:latin typeface="Trebuchet MS" panose="020B0603020202020204" pitchFamily="34" charset="0"/>
              </a:rPr>
              <a:t>asas</a:t>
            </a:r>
            <a:r>
              <a:rPr lang="en-ID" sz="1600" dirty="0">
                <a:latin typeface="Trebuchet MS" panose="020B0603020202020204" pitchFamily="34" charset="0"/>
              </a:rPr>
              <a:t> </a:t>
            </a:r>
            <a:r>
              <a:rPr lang="en-ID" sz="1600" b="1" i="1" dirty="0">
                <a:latin typeface="Trebuchet MS" panose="020B0603020202020204" pitchFamily="34" charset="0"/>
              </a:rPr>
              <a:t>timely, complete, accurate, objective, convincing, dan clear.  </a:t>
            </a:r>
          </a:p>
        </p:txBody>
      </p:sp>
    </p:spTree>
    <p:extLst>
      <p:ext uri="{BB962C8B-B14F-4D97-AF65-F5344CB8AC3E}">
        <p14:creationId xmlns:p14="http://schemas.microsoft.com/office/powerpoint/2010/main" val="2011521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301626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Planning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9766192" y="2337515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8055428" y="3153472"/>
            <a:ext cx="4136572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Understanding the Business Context and Organization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03944-05C5-B346-A5F7-1F9F0F6EF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268"/>
            <a:ext cx="6096000" cy="55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55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301626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Planning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9766192" y="2337515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8055428" y="3153472"/>
            <a:ext cx="4136572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Determine Audit Scope and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9ADAF-505B-D84D-ACF4-13CD1F851D28}"/>
              </a:ext>
            </a:extLst>
          </p:cNvPr>
          <p:cNvSpPr txBox="1"/>
          <p:nvPr/>
        </p:nvSpPr>
        <p:spPr>
          <a:xfrm>
            <a:off x="300956" y="1195754"/>
            <a:ext cx="75367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US" b="1" dirty="0">
                <a:latin typeface="Trebuchet MS" panose="020B0703020202090204" pitchFamily="34" charset="0"/>
              </a:rPr>
              <a:t>Objectives </a:t>
            </a:r>
            <a:r>
              <a:rPr lang="en-US" dirty="0" err="1">
                <a:latin typeface="Trebuchet MS" panose="020B0703020202090204" pitchFamily="34" charset="0"/>
              </a:rPr>
              <a:t>merujuk</a:t>
            </a:r>
            <a:r>
              <a:rPr lang="en-US" dirty="0">
                <a:latin typeface="Trebuchet MS" panose="020B0703020202090204" pitchFamily="34" charset="0"/>
              </a:rPr>
              <a:t> pada </a:t>
            </a:r>
            <a:r>
              <a:rPr lang="en-US" dirty="0" err="1">
                <a:latin typeface="Trebuchet MS" panose="020B0703020202090204" pitchFamily="34" charset="0"/>
              </a:rPr>
              <a:t>tujuan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apa</a:t>
            </a:r>
            <a:r>
              <a:rPr lang="en-US" dirty="0">
                <a:latin typeface="Trebuchet MS" panose="020B0703020202090204" pitchFamily="34" charset="0"/>
              </a:rPr>
              <a:t> yang </a:t>
            </a:r>
            <a:r>
              <a:rPr lang="en-US" dirty="0" err="1">
                <a:latin typeface="Trebuchet MS" panose="020B0703020202090204" pitchFamily="34" charset="0"/>
              </a:rPr>
              <a:t>ingin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dicapai</a:t>
            </a:r>
            <a:r>
              <a:rPr lang="en-US" dirty="0">
                <a:latin typeface="Trebuchet MS" panose="020B0703020202090204" pitchFamily="34" charset="0"/>
              </a:rPr>
              <a:t> oleh </a:t>
            </a:r>
            <a:r>
              <a:rPr lang="en-US" dirty="0" err="1">
                <a:latin typeface="Trebuchet MS" panose="020B0703020202090204" pitchFamily="34" charset="0"/>
              </a:rPr>
              <a:t>organisasi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melalui</a:t>
            </a:r>
            <a:r>
              <a:rPr lang="en-US" dirty="0">
                <a:latin typeface="Trebuchet MS" panose="020B0703020202090204" pitchFamily="34" charset="0"/>
              </a:rPr>
              <a:t> proses audit. </a:t>
            </a:r>
            <a:r>
              <a:rPr lang="en-US" dirty="0" err="1">
                <a:latin typeface="Trebuchet MS" panose="020B0703020202090204" pitchFamily="34" charset="0"/>
              </a:rPr>
              <a:t>Beberapa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tujuan</a:t>
            </a:r>
            <a:r>
              <a:rPr lang="en-US" dirty="0">
                <a:latin typeface="Trebuchet MS" panose="020B0703020202090204" pitchFamily="34" charset="0"/>
              </a:rPr>
              <a:t> audit TI </a:t>
            </a:r>
            <a:r>
              <a:rPr lang="en-US" dirty="0" err="1">
                <a:latin typeface="Trebuchet MS" panose="020B0703020202090204" pitchFamily="34" charset="0"/>
              </a:rPr>
              <a:t>antara</a:t>
            </a:r>
            <a:r>
              <a:rPr lang="en-US" dirty="0">
                <a:latin typeface="Trebuchet MS" panose="020B0703020202090204" pitchFamily="34" charset="0"/>
              </a:rPr>
              <a:t> lain: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latin typeface="Trebuchet MS" panose="020B0703020202090204" pitchFamily="34" charset="0"/>
              </a:rPr>
              <a:t>Evaluasi</a:t>
            </a:r>
            <a:r>
              <a:rPr lang="en-US" dirty="0">
                <a:latin typeface="Trebuchet MS" panose="020B0703020202090204" pitchFamily="34" charset="0"/>
              </a:rPr>
              <a:t> IT Risk Management </a:t>
            </a:r>
            <a:r>
              <a:rPr lang="en-US" dirty="0" err="1">
                <a:latin typeface="Trebuchet MS" panose="020B0703020202090204" pitchFamily="34" charset="0"/>
              </a:rPr>
              <a:t>dari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sebuah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layanan</a:t>
            </a:r>
            <a:r>
              <a:rPr lang="en-US" dirty="0">
                <a:latin typeface="Trebuchet MS" panose="020B0703020202090204" pitchFamily="34" charset="0"/>
              </a:rPr>
              <a:t> TI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latin typeface="Trebuchet MS" panose="020B0703020202090204" pitchFamily="34" charset="0"/>
              </a:rPr>
              <a:t>Evaluasi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Keamanan</a:t>
            </a:r>
            <a:r>
              <a:rPr lang="en-US" dirty="0">
                <a:latin typeface="Trebuchet MS" panose="020B0703020202090204" pitchFamily="34" charset="0"/>
              </a:rPr>
              <a:t> (Security) </a:t>
            </a:r>
            <a:r>
              <a:rPr lang="en-US" dirty="0" err="1">
                <a:latin typeface="Trebuchet MS" panose="020B0703020202090204" pitchFamily="34" charset="0"/>
              </a:rPr>
              <a:t>dari</a:t>
            </a:r>
            <a:r>
              <a:rPr lang="en-US" dirty="0">
                <a:latin typeface="Trebuchet MS" panose="020B0703020202090204" pitchFamily="34" charset="0"/>
              </a:rPr>
              <a:t>  </a:t>
            </a:r>
            <a:r>
              <a:rPr lang="en-US" dirty="0" err="1">
                <a:latin typeface="Trebuchet MS" panose="020B0703020202090204" pitchFamily="34" charset="0"/>
              </a:rPr>
              <a:t>sebuah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layanan</a:t>
            </a:r>
            <a:r>
              <a:rPr lang="en-US" dirty="0">
                <a:latin typeface="Trebuchet MS" panose="020B0703020202090204" pitchFamily="34" charset="0"/>
              </a:rPr>
              <a:t> TI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latin typeface="Trebuchet MS" panose="020B0703020202090204" pitchFamily="34" charset="0"/>
              </a:rPr>
              <a:t>Evaluasi</a:t>
            </a:r>
            <a:r>
              <a:rPr lang="en-US" dirty="0">
                <a:latin typeface="Trebuchet MS" panose="020B0703020202090204" pitchFamily="34" charset="0"/>
              </a:rPr>
              <a:t> Kinerja (Performance) </a:t>
            </a:r>
            <a:r>
              <a:rPr lang="en-US" dirty="0" err="1">
                <a:latin typeface="Trebuchet MS" panose="020B0703020202090204" pitchFamily="34" charset="0"/>
              </a:rPr>
              <a:t>dari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sebuah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layanan</a:t>
            </a:r>
            <a:r>
              <a:rPr lang="en-US" dirty="0">
                <a:latin typeface="Trebuchet MS" panose="020B0703020202090204" pitchFamily="34" charset="0"/>
              </a:rPr>
              <a:t> TI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>
                <a:latin typeface="Trebuchet MS" panose="020B0703020202090204" pitchFamily="34" charset="0"/>
              </a:rPr>
              <a:t>Evaluasi</a:t>
            </a:r>
            <a:r>
              <a:rPr lang="en-US" dirty="0">
                <a:latin typeface="Trebuchet MS" panose="020B0703020202090204" pitchFamily="34" charset="0"/>
              </a:rPr>
              <a:t> Tata Kelola TI (IT Governance) </a:t>
            </a:r>
          </a:p>
          <a:p>
            <a:pPr algn="just"/>
            <a:endParaRPr lang="en-US" dirty="0">
              <a:latin typeface="Trebuchet MS" panose="020B0703020202090204" pitchFamily="34" charset="0"/>
            </a:endParaRPr>
          </a:p>
          <a:p>
            <a:pPr algn="just"/>
            <a:r>
              <a:rPr lang="en-US" i="1" dirty="0" err="1">
                <a:latin typeface="Trebuchet MS" panose="020B0703020202090204" pitchFamily="34" charset="0"/>
              </a:rPr>
              <a:t>Penentuan</a:t>
            </a:r>
            <a:r>
              <a:rPr lang="en-US" i="1" dirty="0">
                <a:latin typeface="Trebuchet MS" panose="020B0703020202090204" pitchFamily="34" charset="0"/>
              </a:rPr>
              <a:t> </a:t>
            </a:r>
            <a:r>
              <a:rPr lang="en-US" i="1" dirty="0" err="1">
                <a:latin typeface="Trebuchet MS" panose="020B0703020202090204" pitchFamily="34" charset="0"/>
              </a:rPr>
              <a:t>tujuan</a:t>
            </a:r>
            <a:r>
              <a:rPr lang="en-US" i="1" dirty="0">
                <a:latin typeface="Trebuchet MS" panose="020B0703020202090204" pitchFamily="34" charset="0"/>
              </a:rPr>
              <a:t> audit </a:t>
            </a:r>
            <a:r>
              <a:rPr lang="en-US" i="1" dirty="0" err="1">
                <a:latin typeface="Trebuchet MS" panose="020B0703020202090204" pitchFamily="34" charset="0"/>
              </a:rPr>
              <a:t>akan</a:t>
            </a:r>
            <a:r>
              <a:rPr lang="en-US" i="1" dirty="0">
                <a:latin typeface="Trebuchet MS" panose="020B0703020202090204" pitchFamily="34" charset="0"/>
              </a:rPr>
              <a:t> </a:t>
            </a:r>
            <a:r>
              <a:rPr lang="en-US" i="1" dirty="0" err="1">
                <a:latin typeface="Trebuchet MS" panose="020B0703020202090204" pitchFamily="34" charset="0"/>
              </a:rPr>
              <a:t>berkaitan</a:t>
            </a:r>
            <a:r>
              <a:rPr lang="en-US" i="1" dirty="0">
                <a:latin typeface="Trebuchet MS" panose="020B0703020202090204" pitchFamily="34" charset="0"/>
              </a:rPr>
              <a:t> </a:t>
            </a:r>
            <a:r>
              <a:rPr lang="en-US" i="1" dirty="0" err="1">
                <a:latin typeface="Trebuchet MS" panose="020B0703020202090204" pitchFamily="34" charset="0"/>
              </a:rPr>
              <a:t>dengan</a:t>
            </a:r>
            <a:r>
              <a:rPr lang="en-US" i="1" dirty="0">
                <a:latin typeface="Trebuchet MS" panose="020B0703020202090204" pitchFamily="34" charset="0"/>
              </a:rPr>
              <a:t> </a:t>
            </a:r>
            <a:r>
              <a:rPr lang="en-US" i="1" dirty="0" err="1">
                <a:latin typeface="Trebuchet MS" panose="020B0703020202090204" pitchFamily="34" charset="0"/>
              </a:rPr>
              <a:t>penentuan</a:t>
            </a:r>
            <a:r>
              <a:rPr lang="en-US" i="1" dirty="0">
                <a:latin typeface="Trebuchet MS" panose="020B0703020202090204" pitchFamily="34" charset="0"/>
              </a:rPr>
              <a:t> </a:t>
            </a:r>
            <a:r>
              <a:rPr lang="en-US" i="1" dirty="0" err="1">
                <a:latin typeface="Trebuchet MS" panose="020B0703020202090204" pitchFamily="34" charset="0"/>
              </a:rPr>
              <a:t>standar</a:t>
            </a:r>
            <a:r>
              <a:rPr lang="en-US" i="1" dirty="0">
                <a:latin typeface="Trebuchet MS" panose="020B0703020202090204" pitchFamily="34" charset="0"/>
              </a:rPr>
              <a:t> audit yang </a:t>
            </a:r>
            <a:r>
              <a:rPr lang="en-US" i="1" dirty="0" err="1">
                <a:latin typeface="Trebuchet MS" panose="020B0703020202090204" pitchFamily="34" charset="0"/>
              </a:rPr>
              <a:t>akan</a:t>
            </a:r>
            <a:r>
              <a:rPr lang="en-US" i="1" dirty="0">
                <a:latin typeface="Trebuchet MS" panose="020B0703020202090204" pitchFamily="34" charset="0"/>
              </a:rPr>
              <a:t> </a:t>
            </a:r>
            <a:r>
              <a:rPr lang="en-US" i="1" dirty="0" err="1">
                <a:latin typeface="Trebuchet MS" panose="020B0703020202090204" pitchFamily="34" charset="0"/>
              </a:rPr>
              <a:t>digunakan</a:t>
            </a:r>
            <a:r>
              <a:rPr lang="en-US" i="1" dirty="0">
                <a:latin typeface="Trebuchet MS" panose="020B0703020202090204" pitchFamily="34" charset="0"/>
              </a:rPr>
              <a:t>.</a:t>
            </a:r>
          </a:p>
          <a:p>
            <a:pPr algn="just"/>
            <a:endParaRPr lang="en-US" b="1" dirty="0">
              <a:latin typeface="Trebuchet MS" panose="020B0703020202090204" pitchFamily="34" charset="0"/>
            </a:endParaRPr>
          </a:p>
          <a:p>
            <a:pPr algn="just"/>
            <a:endParaRPr lang="en-US" b="1" dirty="0">
              <a:latin typeface="Trebuchet MS" panose="020B0703020202090204" pitchFamily="34" charset="0"/>
            </a:endParaRPr>
          </a:p>
          <a:p>
            <a:pPr algn="just"/>
            <a:endParaRPr lang="en-US" b="1" dirty="0">
              <a:latin typeface="Trebuchet MS" panose="020B0703020202090204" pitchFamily="34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b="1" dirty="0">
                <a:latin typeface="Trebuchet MS" panose="020B0703020202090204" pitchFamily="34" charset="0"/>
              </a:rPr>
              <a:t>Scope </a:t>
            </a:r>
            <a:r>
              <a:rPr lang="en-US" dirty="0" err="1">
                <a:latin typeface="Trebuchet MS" panose="020B0703020202090204" pitchFamily="34" charset="0"/>
              </a:rPr>
              <a:t>merujuk</a:t>
            </a:r>
            <a:r>
              <a:rPr lang="en-US" dirty="0">
                <a:latin typeface="Trebuchet MS" panose="020B0703020202090204" pitchFamily="34" charset="0"/>
              </a:rPr>
              <a:t> pada “</a:t>
            </a:r>
            <a:r>
              <a:rPr lang="en-US" b="1" dirty="0">
                <a:latin typeface="Trebuchet MS" panose="020B0703020202090204" pitchFamily="34" charset="0"/>
              </a:rPr>
              <a:t>boundaries of the audit</a:t>
            </a:r>
            <a:r>
              <a:rPr lang="en-US" dirty="0">
                <a:latin typeface="Trebuchet MS" panose="020B0703020202090204" pitchFamily="34" charset="0"/>
              </a:rPr>
              <a:t>”. Ruang </a:t>
            </a:r>
            <a:r>
              <a:rPr lang="en-US" dirty="0" err="1">
                <a:latin typeface="Trebuchet MS" panose="020B0703020202090204" pitchFamily="34" charset="0"/>
              </a:rPr>
              <a:t>lingkup</a:t>
            </a:r>
            <a:r>
              <a:rPr lang="en-US" dirty="0">
                <a:latin typeface="Trebuchet MS" panose="020B0703020202090204" pitchFamily="34" charset="0"/>
              </a:rPr>
              <a:t> audit </a:t>
            </a:r>
            <a:r>
              <a:rPr lang="en-US" dirty="0" err="1">
                <a:latin typeface="Trebuchet MS" panose="020B0703020202090204" pitchFamily="34" charset="0"/>
              </a:rPr>
              <a:t>dapat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berupa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periode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waktu</a:t>
            </a:r>
            <a:r>
              <a:rPr lang="en-US" dirty="0">
                <a:latin typeface="Trebuchet MS" panose="020B0703020202090204" pitchFamily="34" charset="0"/>
              </a:rPr>
              <a:t> audit, </a:t>
            </a:r>
            <a:r>
              <a:rPr lang="en-US" dirty="0" err="1">
                <a:latin typeface="Trebuchet MS" panose="020B0703020202090204" pitchFamily="34" charset="0"/>
              </a:rPr>
              <a:t>jumlah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lokasi</a:t>
            </a:r>
            <a:r>
              <a:rPr lang="en-US" dirty="0">
                <a:latin typeface="Trebuchet MS" panose="020B0703020202090204" pitchFamily="34" charset="0"/>
              </a:rPr>
              <a:t> / branch / </a:t>
            </a:r>
            <a:r>
              <a:rPr lang="en-US" dirty="0" err="1">
                <a:latin typeface="Trebuchet MS" panose="020B0703020202090204" pitchFamily="34" charset="0"/>
              </a:rPr>
              <a:t>cabang</a:t>
            </a:r>
            <a:r>
              <a:rPr lang="en-US" dirty="0">
                <a:latin typeface="Trebuchet MS" panose="020B0703020202090204" pitchFamily="34" charset="0"/>
              </a:rPr>
              <a:t> / unit yang </a:t>
            </a:r>
            <a:r>
              <a:rPr lang="en-US" dirty="0" err="1">
                <a:latin typeface="Trebuchet MS" panose="020B0703020202090204" pitchFamily="34" charset="0"/>
              </a:rPr>
              <a:t>akan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tercover</a:t>
            </a:r>
            <a:r>
              <a:rPr lang="en-US" dirty="0">
                <a:latin typeface="Trebuchet MS" panose="020B0703020202090204" pitchFamily="34" charset="0"/>
              </a:rPr>
              <a:t> oleh audit, dan </a:t>
            </a:r>
            <a:r>
              <a:rPr lang="en-US" dirty="0" err="1">
                <a:latin typeface="Trebuchet MS" panose="020B0703020202090204" pitchFamily="34" charset="0"/>
              </a:rPr>
              <a:t>karakteristik</a:t>
            </a:r>
            <a:r>
              <a:rPr lang="en-US" dirty="0">
                <a:latin typeface="Trebuchet MS" panose="020B0703020202090204" pitchFamily="34" charset="0"/>
              </a:rPr>
              <a:t> detail/</a:t>
            </a:r>
            <a:r>
              <a:rPr lang="en-US" dirty="0" err="1">
                <a:latin typeface="Trebuchet MS" panose="020B0703020202090204" pitchFamily="34" charset="0"/>
              </a:rPr>
              <a:t>khusus</a:t>
            </a:r>
            <a:r>
              <a:rPr lang="en-US" dirty="0">
                <a:latin typeface="Trebuchet MS" panose="020B0703020202090204" pitchFamily="34" charset="0"/>
              </a:rPr>
              <a:t> yang </a:t>
            </a:r>
            <a:r>
              <a:rPr lang="en-US" dirty="0" err="1">
                <a:latin typeface="Trebuchet MS" panose="020B0703020202090204" pitchFamily="34" charset="0"/>
              </a:rPr>
              <a:t>diturunkan</a:t>
            </a:r>
            <a:r>
              <a:rPr lang="en-US" dirty="0">
                <a:latin typeface="Trebuchet MS" panose="020B0703020202090204" pitchFamily="34" charset="0"/>
              </a:rPr>
              <a:t> </a:t>
            </a:r>
            <a:r>
              <a:rPr lang="en-US" dirty="0" err="1">
                <a:latin typeface="Trebuchet MS" panose="020B0703020202090204" pitchFamily="34" charset="0"/>
              </a:rPr>
              <a:t>dari</a:t>
            </a:r>
            <a:r>
              <a:rPr lang="en-US" dirty="0">
                <a:latin typeface="Trebuchet MS" panose="020B0703020202090204" pitchFamily="34" charset="0"/>
              </a:rPr>
              <a:t> objectives/</a:t>
            </a:r>
            <a:r>
              <a:rPr lang="en-US" dirty="0" err="1">
                <a:latin typeface="Trebuchet MS" panose="020B0703020202090204" pitchFamily="34" charset="0"/>
              </a:rPr>
              <a:t>tujuan</a:t>
            </a:r>
            <a:r>
              <a:rPr lang="en-US" dirty="0">
                <a:latin typeface="Trebuchet MS" panose="020B0703020202090204" pitchFamily="34" charset="0"/>
              </a:rPr>
              <a:t> audit. </a:t>
            </a:r>
            <a:endParaRPr lang="en-US" b="1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57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301626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Planning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9766192" y="2337515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8055428" y="3153472"/>
            <a:ext cx="4136572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Choose the Audit Standard / Procedure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9ADAF-505B-D84D-ACF4-13CD1F851D28}"/>
              </a:ext>
            </a:extLst>
          </p:cNvPr>
          <p:cNvSpPr txBox="1"/>
          <p:nvPr/>
        </p:nvSpPr>
        <p:spPr>
          <a:xfrm>
            <a:off x="300956" y="1195754"/>
            <a:ext cx="75367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>
                <a:latin typeface="Trebuchet MS" panose="020B0703020202090204" pitchFamily="34" charset="0"/>
              </a:rPr>
              <a:t>The definition of audit scope and objectives during audit planning </a:t>
            </a:r>
            <a:r>
              <a:rPr lang="en-ID" b="1" i="1" u="sng" dirty="0">
                <a:solidFill>
                  <a:srgbClr val="FF0000"/>
                </a:solidFill>
                <a:latin typeface="Trebuchet MS" panose="020B0703020202090204" pitchFamily="34" charset="0"/>
              </a:rPr>
              <a:t>typically correlates </a:t>
            </a:r>
            <a:r>
              <a:rPr lang="en-ID" b="1" i="1" u="sng" dirty="0">
                <a:latin typeface="Trebuchet MS" panose="020B0703020202090204" pitchFamily="34" charset="0"/>
              </a:rPr>
              <a:t>to the audit criteria that auditors will apply to the applicable procedures and protocols.</a:t>
            </a:r>
          </a:p>
          <a:p>
            <a:pPr algn="just"/>
            <a:endParaRPr lang="en-ID" dirty="0">
              <a:latin typeface="Trebuchet MS" panose="020B0703020202090204" pitchFamily="34" charset="0"/>
            </a:endParaRPr>
          </a:p>
          <a:p>
            <a:pPr algn="just"/>
            <a:r>
              <a:rPr lang="en-ID" dirty="0">
                <a:latin typeface="Trebuchet MS" panose="020B0703020202090204" pitchFamily="34" charset="0"/>
              </a:rPr>
              <a:t>Similarly, the choice of audit procedures and protocols that auditors </a:t>
            </a:r>
            <a:r>
              <a:rPr lang="en-ID" b="1" i="1" u="sng" dirty="0">
                <a:solidFill>
                  <a:srgbClr val="0070C0"/>
                </a:solidFill>
                <a:latin typeface="Trebuchet MS" panose="020B0703020202090204" pitchFamily="34" charset="0"/>
              </a:rPr>
              <a:t>will use reflects </a:t>
            </a:r>
            <a:r>
              <a:rPr lang="en-ID" b="1" i="1" u="sng" dirty="0">
                <a:latin typeface="Trebuchet MS" panose="020B0703020202090204" pitchFamily="34" charset="0"/>
              </a:rPr>
              <a:t>the type and purpose of the audit and what is being audited </a:t>
            </a:r>
          </a:p>
          <a:p>
            <a:pPr algn="just"/>
            <a:endParaRPr lang="en-ID" dirty="0">
              <a:latin typeface="Trebuchet MS" panose="020B070302020209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A967F-A88C-CD4F-B5B7-F160AA0C8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098" y="3153472"/>
            <a:ext cx="6230473" cy="333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35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301626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Planning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9766192" y="2337515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8055428" y="3153472"/>
            <a:ext cx="4136572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Assign Audit Resources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CB967-5562-C344-B72A-BF558EBEA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42" y="917772"/>
            <a:ext cx="6143026" cy="55932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B0AD57-128A-8F44-B7DE-B6EEFFC181A6}"/>
              </a:ext>
            </a:extLst>
          </p:cNvPr>
          <p:cNvSpPr txBox="1"/>
          <p:nvPr/>
        </p:nvSpPr>
        <p:spPr>
          <a:xfrm>
            <a:off x="7053683" y="3664383"/>
            <a:ext cx="513831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D" sz="1600" dirty="0">
                <a:latin typeface="Trebuchet MS" panose="020B0603020202020204" pitchFamily="34" charset="0"/>
              </a:rPr>
              <a:t>Organizational Responsibility for Internal IT Audit</a:t>
            </a:r>
            <a:endParaRPr lang="en-ID" sz="1600" b="1" i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66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301626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Planning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9766192" y="2337515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8055428" y="3153472"/>
            <a:ext cx="4136572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Assign Audit Resources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61900-B0FC-6F4E-AA14-D0585F551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03" y="871218"/>
            <a:ext cx="6375400" cy="5575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870B4D-297B-0D45-91E7-066F8AF01B0C}"/>
              </a:ext>
            </a:extLst>
          </p:cNvPr>
          <p:cNvSpPr txBox="1"/>
          <p:nvPr/>
        </p:nvSpPr>
        <p:spPr>
          <a:xfrm>
            <a:off x="7053683" y="3664383"/>
            <a:ext cx="513831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D" sz="1600" dirty="0">
                <a:latin typeface="Trebuchet MS" panose="020B0603020202020204" pitchFamily="34" charset="0"/>
              </a:rPr>
              <a:t>Organizational Responsibility for External IT Audit</a:t>
            </a:r>
            <a:endParaRPr lang="en-ID" sz="1600" b="1" i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818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301626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Performance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D7E403-5DCA-754E-A6D5-DCF53AF0216B}"/>
              </a:ext>
            </a:extLst>
          </p:cNvPr>
          <p:cNvSpPr/>
          <p:nvPr/>
        </p:nvSpPr>
        <p:spPr>
          <a:xfrm>
            <a:off x="7975682" y="96710"/>
            <a:ext cx="715044" cy="638628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5CB155-6964-4941-8AD2-111182E77330}"/>
              </a:ext>
            </a:extLst>
          </p:cNvPr>
          <p:cNvSpPr txBox="1"/>
          <p:nvPr/>
        </p:nvSpPr>
        <p:spPr>
          <a:xfrm>
            <a:off x="6264918" y="912667"/>
            <a:ext cx="4136572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Trebuchet MS" panose="020B0603020202020204" pitchFamily="34" charset="0"/>
              </a:rPr>
              <a:t>Collecting the Evidence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1E36F9-5469-5D46-B691-F0F7ADB51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69" y="742404"/>
            <a:ext cx="5118100" cy="575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5C0D13-E224-DE4E-A7EC-E3EDF8C0D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342" y="1946221"/>
            <a:ext cx="7244767" cy="387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08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 dirty="0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 dirty="0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B1784-5561-6840-8B78-4863BF53ACC9}"/>
              </a:ext>
            </a:extLst>
          </p:cNvPr>
          <p:cNvSpPr txBox="1"/>
          <p:nvPr/>
        </p:nvSpPr>
        <p:spPr>
          <a:xfrm>
            <a:off x="286442" y="301626"/>
            <a:ext cx="9903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anose="020B0703020202090204" pitchFamily="34" charset="0"/>
              </a:rPr>
              <a:t>IT Audit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BC0BE-6F26-2742-BC2F-1E26281B3C9C}"/>
              </a:ext>
            </a:extLst>
          </p:cNvPr>
          <p:cNvSpPr txBox="1"/>
          <p:nvPr/>
        </p:nvSpPr>
        <p:spPr>
          <a:xfrm>
            <a:off x="300955" y="1195754"/>
            <a:ext cx="117058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>
                <a:latin typeface="Trebuchet MS" panose="020B0703020202090204" pitchFamily="34" charset="0"/>
              </a:rPr>
              <a:t>An audit report typically contains information including [</a:t>
            </a:r>
            <a:r>
              <a:rPr lang="en-ID" i="1" dirty="0" err="1">
                <a:latin typeface="Trebuchet MS" panose="020B0703020202090204" pitchFamily="34" charset="0"/>
              </a:rPr>
              <a:t>Merujuk</a:t>
            </a:r>
            <a:r>
              <a:rPr lang="en-ID" i="1" dirty="0">
                <a:latin typeface="Trebuchet MS" panose="020B0703020202090204" pitchFamily="34" charset="0"/>
              </a:rPr>
              <a:t> pada ISO 19011:2011. Guidelines for auditing management systems</a:t>
            </a:r>
            <a:r>
              <a:rPr lang="en-ID" dirty="0">
                <a:latin typeface="Trebuchet MS" panose="020B0703020202090204" pitchFamily="34" charset="0"/>
              </a:rPr>
              <a:t>]:</a:t>
            </a:r>
          </a:p>
          <a:p>
            <a:pPr algn="just"/>
            <a:endParaRPr lang="en-ID" dirty="0">
              <a:latin typeface="Trebuchet MS" panose="020B070302020209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purpose and objectives for performing the audit;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audit scope, including organizational, functional, or technical elements to which the audit applies;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identification of the audit client;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identification of audit participants, including auditors and those subject to the audit;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time frame during which the audit took place;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locations where auditing occurred, including organization facilities and auditor work sites outside the organization, if any;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criteria specified for the audit;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audit findings and supporting evidence;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audit conclusions, including auditor recommendations; and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>
                <a:latin typeface="Trebuchet MS" panose="020B0703020202090204" pitchFamily="34" charset="0"/>
              </a:rPr>
              <a:t>audit results, potentially including overall success or failure determination or the  </a:t>
            </a:r>
          </a:p>
        </p:txBody>
      </p:sp>
    </p:spTree>
    <p:extLst>
      <p:ext uri="{BB962C8B-B14F-4D97-AF65-F5344CB8AC3E}">
        <p14:creationId xmlns:p14="http://schemas.microsoft.com/office/powerpoint/2010/main" val="1776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314" name="Picture 2" descr="download drama korea pluto secret society idws download - cardsmote">
            <a:extLst>
              <a:ext uri="{FF2B5EF4-FFF2-40B4-BE49-F238E27FC236}">
                <a16:creationId xmlns:a16="http://schemas.microsoft.com/office/drawing/2014/main" id="{9F04A669-21E1-FE43-8751-9DBA7EE854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7" b="17432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41FB9F0-4EB5-8345-B69D-F16705581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060" y="172602"/>
            <a:ext cx="1033737" cy="10231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2448E2-89B9-1B4A-A536-1CF46151AAA7}"/>
              </a:ext>
            </a:extLst>
          </p:cNvPr>
          <p:cNvSpPr/>
          <p:nvPr/>
        </p:nvSpPr>
        <p:spPr>
          <a:xfrm>
            <a:off x="0" y="6492890"/>
            <a:ext cx="12192000" cy="365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d-ID" sz="1400" b="1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Beny Prasetyo, S.Kom., M.Kom., COBIT5-F		                   </a:t>
            </a:r>
            <a:r>
              <a:rPr lang="en-ID" sz="1400" b="1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				 Faculty of Computer Science </a:t>
            </a:r>
            <a:r>
              <a:rPr lang="id-ID" sz="1400" b="1">
                <a:solidFill>
                  <a:schemeClr val="bg1"/>
                </a:solidFill>
                <a:latin typeface="Arial Narrow" panose="020B0606020202030204" pitchFamily="34" charset="0"/>
                <a:ea typeface="Adobe Fan Heiti Std B" panose="020B0700000000000000" pitchFamily="34" charset="-128"/>
              </a:rPr>
              <a:t>– University of Jember</a:t>
            </a:r>
            <a:endParaRPr lang="en-US" sz="1400" b="1">
              <a:solidFill>
                <a:schemeClr val="bg1"/>
              </a:solidFill>
              <a:latin typeface="Arial Narrow" panose="020B0606020202030204" pitchFamily="34" charset="0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519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1328</Words>
  <Application>Microsoft Macintosh PowerPoint</Application>
  <PresentationFormat>Widescreen</PresentationFormat>
  <Paragraphs>124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Narrow</vt:lpstr>
      <vt:lpstr>Calibri</vt:lpstr>
      <vt:lpstr>Calibri Light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beny prasetyo</dc:creator>
  <cp:lastModifiedBy>Beny Prasetyo</cp:lastModifiedBy>
  <cp:revision>34</cp:revision>
  <dcterms:created xsi:type="dcterms:W3CDTF">2020-09-20T04:53:41Z</dcterms:created>
  <dcterms:modified xsi:type="dcterms:W3CDTF">2024-10-07T03:11:16Z</dcterms:modified>
</cp:coreProperties>
</file>